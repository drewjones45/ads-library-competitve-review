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7FFFF872_CE42F966.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4"/>
  </p:sldMasterIdLst>
  <p:notesMasterIdLst>
    <p:notesMasterId r:id="rId9"/>
  </p:notesMasterIdLst>
  <p:sldIdLst>
    <p:sldId id="2147481730" r:id="rId5"/>
    <p:sldId id="2147481714" r:id="rId6"/>
    <p:sldId id="2147481735" r:id="rId7"/>
    <p:sldId id="2147481731" r:id="rId8"/>
  </p:sldIdLst>
  <p:sldSz cx="7772400" cy="10058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92" userDrawn="1">
          <p15:clr>
            <a:srgbClr val="A4A3A4"/>
          </p15:clr>
        </p15:guide>
        <p15:guide id="2" pos="247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537A111-2555-AD09-BF10-CF1DF5F1D80E}" name="Amanda Hamilton" initials="AH" userId="S::ahamilton@horizonmedia.com::aafefb2e-3332-4882-9d3f-219c1b814c9f" providerId="AD"/>
  <p188:author id="{E46FFD2F-0D95-F072-0A44-6A233510C735}" name="Maggie Kmiecik" initials="MK" userId="S::mkmiecik@horizoncommerce.com::22e34a70-8e61-46c8-adf2-52cddd3fd88c" providerId="AD"/>
  <p188:author id="{5868A34D-21B1-0373-0C8D-C879AA1F3E98}" name="Sarah Kaszubski" initials="SK" userId="S::SKaszubski@horizonmedia.com::e6a42dc9-9eb3-4c1f-9610-b9d7f1df8e25" providerId="AD"/>
  <p188:author id="{F2210F58-E2CB-DB10-A4BC-0E08817CF383}" name="Lori Wigler" initials="LW" userId="S::lwigler@horizonmedia.com::6f5850b9-d5fc-4fec-9bc8-547e7dc3180f" providerId="AD"/>
  <p188:author id="{B264785C-85A0-D221-8638-5025E6D62CFB}" name="George Musi" initials="" userId="S::GMusi@Night-market.com::8d1c51ee-1fd0-43ad-91e6-accb59c90da6" providerId="AD"/>
  <p188:author id="{A7C97466-916D-49AC-698C-CE106D8B70E2}" name="Khasai Ramsey" initials="KR" userId="S::KRamsey@horizonmedia.com::15459d6c-7aaf-457e-99b1-b095dbba96b7" providerId="AD"/>
  <p188:author id="{2C877D6F-EAB5-F1C6-D9B2-1107E8174364}" name="Melody To" initials="" userId="S::MTo@Night-market.com::cf92b302-92d8-4069-b50b-df28ab19269d" providerId="AD"/>
  <p188:author id="{068F0A71-2661-D613-9B3C-6089281112B6}" name="Ashtyn Davis" initials="AD" userId="S::AsDavis@horizonmedia.com::28779bd6-48e7-48ab-b919-facec007e226" providerId="AD"/>
  <p188:author id="{D8AD0380-57BD-3640-D8A8-F03CEE500508}" name="Tim Stevenson" initials="" userId="S::TStevenson@night-market.com::c3bcc633-8ddd-4c25-b7a7-f78e7afe5351" providerId="AD"/>
  <p188:author id="{B6958D89-B9D4-40DF-F9E5-EB4EDB83D794}" name="Rachel Hazelwood" initials="RH" userId="S::RHazelwood@horizoncommerce.com::5d7a4f47-d9d9-4ea5-a2f8-08b612e116e8" providerId="AD"/>
  <p188:author id="{8F596F8A-A250-DAE5-C0DF-BB1B7961C4EE}" name="Victoria Rizo" initials="VR" userId="S::VRizo@horizonmedia.com::a072c2b2-7eea-4491-a51e-7d6cb63f1bd0" providerId="AD"/>
  <p188:author id="{D35D7E93-6442-1BED-FDEB-310C18D53987}" name="Isabella Hiew" initials="IH" userId="S::ihiew@night-market.com::50f5445b-5d3f-4147-a6bc-cc85416660f5" providerId="AD"/>
  <p188:author id="{175C5299-C9DA-A258-61EE-324B8EC473AD}" name="Sarah Kaszubski" initials="SK" userId="S::skaszubski@horizonmedia.com::e6a42dc9-9eb3-4c1f-9610-b9d7f1df8e25" providerId="AD"/>
  <p188:author id="{B66B519F-4D25-D81F-1458-825A7FAED1AC}" name="Emily Van Wormer" initials="EV" userId="S::evanwormer@horizonmedia.com::1adaf3df-6f4c-4b66-a3df-f023a738a2b5" providerId="AD"/>
  <p188:author id="{B7E96FA9-8546-5300-DCDA-AAF29808BB43}" name="Katie Kelly" initials="KK" userId="S::KaKelly@night-market.com::c591806e-921f-49ac-bb98-c06d433d3659" providerId="AD"/>
  <p188:author id="{239A7FAE-F53F-E3AF-6F01-3273BE19676B}" name="Andrew Jones" initials="AJ" userId="S::anjones@horizoncommerce.com::1e283303-1d46-4200-8cb5-02aae40765bc" providerId="AD"/>
  <p188:author id="{B131F4AF-EEF7-750C-239F-162DBD4F5140}" name="Gene Turner" initials="GT" userId="S::gturner@horizonmedia.com::69237c72-5d4d-4ad8-822d-212f9a7da37c" providerId="AD"/>
  <p188:author id="{ABB790BF-61E0-1C8A-FF00-8001B6E31D3D}" name="Isabella Hiew" initials="" userId="S::IHiew@Night-market.com::50f5445b-5d3f-4147-a6bc-cc85416660f5" providerId="AD"/>
  <p188:author id="{D2824ECE-BD65-AA52-BEED-A6C07C142ADA}" name="Melody To" initials="MT" userId="S::MTo@night-market.com::cf92b302-92d8-4069-b50b-df28ab19269d" providerId="AD"/>
  <p188:author id="{E000A4E3-5A91-F405-73C5-3D38D08F4EB1}" name="George Musi" initials="GM" userId="S::gmusi@night-market.com::8d1c51ee-1fd0-43ad-91e6-accb59c90da6" providerId="AD"/>
  <p188:author id="{231433E8-68A9-7EE2-6F6A-ECE7C8AC7E7F}" name="Mia Cosgrove" initials="MC" userId="S::mcosgrove@horizon-next.com::cb0231d0-9661-4b91-8b58-17eeb0ee099d" providerId="AD"/>
  <p188:author id="{5637B7E8-B415-49F5-AA28-0570E820F3ED}" name="Emmeline van der Post" initials="Ev" userId="S::evanderpost@horizoncommerce.com::752d3862-efcb-4c5a-8aff-afe147443aaf" providerId="AD"/>
  <p188:author id="{6C1C00EA-1036-BE16-BE3A-244D1281EABA}" name="Katie Comerford" initials="KC" userId="S::kcomerford@horizonmedia.com::a9d30a89-c7c6-48e7-98e1-bc24511332b8" providerId="AD"/>
  <p188:author id="{1EE9D7EB-9E95-96CD-3FC7-C5ADC864B138}" name="Andrew Jones" initials="AJ" userId="S::AnJones@horizoncommerce.com::1e283303-1d46-4200-8cb5-02aae40765bc" providerId="AD"/>
  <p188:author id="{6F44D7EE-7B05-CB81-C98A-20E171CF21CE}" name="Anita Palachan" initials="" userId="S::APalachan@horizonmedia.com::dfd23ba8-c670-4264-a399-78289c5b452d" providerId="AD"/>
  <p188:author id="{5A8E3CF2-76DB-56CF-61F1-B2E06ADC598D}" name="Anita Palachan" initials="AP" userId="S::apalachan@horizonmedia.com::dfd23ba8-c670-4264-a399-78289c5b452d" providerId="AD"/>
  <p188:author id="{216311F7-C748-A6D0-2DF6-3EA786C54AF0}" name="George Musi" initials="GM" userId="S::GMusi@night-market.com::8d1c51ee-1fd0-43ad-91e6-accb59c90da6" providerId="AD"/>
  <p188:author id="{738730FB-F3A0-6BE5-C73A-DAAE7C80BB75}" name="Kimberly Aiello" initials="KA" userId="S::kaiello@horizonmedia.com::872f9848-5595-4be6-8884-255fb912c7c3" providerId="AD"/>
  <p188:author id="{DCF845FC-8C30-099C-28F4-217922633308}" name="Randolph Browning" initials="" userId="S::rbrowning@night-market.com::73f245ed-1392-4c97-b1f9-93db3a94fcaf" providerId="AD"/>
  <p188:author id="{E0A7BFFC-7B78-9645-0711-F8402E249ABE}" name="Katie Kelly" initials="KK" userId="S::KaKelly@horizoncommerce.com::c591806e-921f-49ac-bb98-c06d433d365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3E0"/>
    <a:srgbClr val="0B0732"/>
    <a:srgbClr val="0091B7"/>
    <a:srgbClr val="221C35"/>
    <a:srgbClr val="0A113A"/>
    <a:srgbClr val="BE000F"/>
    <a:srgbClr val="78347F"/>
    <a:srgbClr val="E519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23595C-0E8B-4868-A3DE-C8B5033F6C24}" v="17" dt="2026-06-15T16:55:02.914"/>
    <p1510:client id="{AA7BF473-5CA4-9940-AFE3-0764E335992C}" v="1" dt="2026-06-18T18:59:54.878"/>
    <p1510:client id="{AC4CCDF1-1F4D-4266-9D4B-A833BC78D4AE}" v="1" dt="2026-06-15T21:57:41.5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51"/>
    <p:restoredTop sz="94689"/>
  </p:normalViewPr>
  <p:slideViewPr>
    <p:cSldViewPr snapToGrid="0">
      <p:cViewPr varScale="1">
        <p:scale>
          <a:sx n="100" d="100"/>
          <a:sy n="100" d="100"/>
        </p:scale>
        <p:origin x="3008" y="184"/>
      </p:cViewPr>
      <p:guideLst>
        <p:guide orient="horz" pos="3192"/>
        <p:guide pos="24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s>
</file>

<file path=ppt/comments/modernComment_7FFFF872_CE42F966.xml><?xml version="1.0" encoding="utf-8"?>
<p188:cmLst xmlns:a="http://schemas.openxmlformats.org/drawingml/2006/main" xmlns:r="http://schemas.openxmlformats.org/officeDocument/2006/relationships" xmlns:p188="http://schemas.microsoft.com/office/powerpoint/2018/8/main">
  <p188:cm id="{6D9A61F7-B575-4F25-BE5E-83EF3EFCC1A7}" authorId="{231433E8-68A9-7EE2-6F6A-ECE7C8AC7E7F}" created="2026-06-15T21:57:41.543" startDate="2026-06-15T21:57:41.543" dueDate="2026-06-15T21:57:41.543" assignedTo="{E0A7BFFC-7B78-9645-0711-F8402E249ABE}" title="@Katie Kelly @Andrew Jones looks good, my one question is on zip codes and if they shift into a new market or open a new store in an existing new marker assume you would need to update the agent?">
    <pc:sldMkLst xmlns:pc="http://schemas.microsoft.com/office/powerpoint/2013/main/command">
      <pc:docMk/>
      <pc:sldMk cId="3460495718" sldId="2147481714"/>
    </pc:sldMkLst>
    <p188:txBody>
      <a:bodyPr/>
      <a:lstStyle/>
      <a:p>
        <a:r>
          <a:rPr lang="en-US"/>
          <a:t>[@Katie Kelly] [@Andrew Jones]  looks good, my one question is on zip codes and if they shift into a new market or open a new store in an existing new marker assume you would need to update the agent?</a:t>
        </a:r>
      </a:p>
    </p188:txBody>
    <p188:extLst>
      <p:ext xmlns:p="http://schemas.openxmlformats.org/presentationml/2006/main" uri="{5BB2D875-25FF-4072-B9AC-8F64D62656EB}">
        <p228:taskDetails xmlns:p228="http://schemas.microsoft.com/office/powerpoint/2022/08/main">
          <p228:history>
            <p228:event time="2026-06-15T21:57:41.543" id="{6340538D-CE95-4BCB-8875-ECCFB8FFB093}">
              <p228:atrbtn authorId="{231433E8-68A9-7EE2-6F6A-ECE7C8AC7E7F}"/>
              <p228:anchr>
                <p228:comment id="{6D9A61F7-B575-4F25-BE5E-83EF3EFCC1A7}"/>
              </p228:anchr>
              <p228:add/>
            </p228:event>
            <p228:event time="2026-06-15T21:57:41.543" id="{D968D073-4896-421A-A72A-86D7C56DFD4A}">
              <p228:atrbtn authorId="{231433E8-68A9-7EE2-6F6A-ECE7C8AC7E7F}"/>
              <p228:anchr>
                <p228:comment id="{6D9A61F7-B575-4F25-BE5E-83EF3EFCC1A7}"/>
              </p228:anchr>
              <p228:asgn authorId="{E0A7BFFC-7B78-9645-0711-F8402E249ABE}"/>
            </p228:event>
            <p228:event time="2026-06-15T21:57:41.543" id="{4F66CB4C-B7E6-4404-AA0C-202BB9512F33}">
              <p228:atrbtn authorId="{231433E8-68A9-7EE2-6F6A-ECE7C8AC7E7F}"/>
              <p228:anchr>
                <p228:comment id="{6D9A61F7-B575-4F25-BE5E-83EF3EFCC1A7}"/>
              </p228:anchr>
              <p228:title val="@Katie Kelly @Andrew Jones looks good, my one question is on zip codes and if they shift into a new market or open a new store in an existing new marker assume you would need to update the agent?"/>
            </p228:event>
            <p228:event time="2026-06-15T21:57:41.543" id="{B055C938-6447-44B8-9B7D-EBC32C052A70}">
              <p228:atrbtn authorId="{231433E8-68A9-7EE2-6F6A-ECE7C8AC7E7F}"/>
              <p228:anchr>
                <p228:comment id="{6D9A61F7-B575-4F25-BE5E-83EF3EFCC1A7}"/>
              </p228:anchr>
              <p228:date stDt="2026-06-15T21:57:41.543" endDt="2026-06-15T21:57:41.543"/>
            </p228:event>
          </p228:history>
        </p228:taskDetail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CC0310-8F84-4850-B9FE-47A0CC7DA4EE}" type="datetimeFigureOut">
              <a:rPr lang="en-US"/>
              <a:t>6/18/26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F5C9D2-F21B-4FCC-9676-42D7D9503279}" type="slidenum">
              <a:rPr/>
              <a:t>‹#›</a:t>
            </a:fld>
            <a:endParaRPr lang="en-US"/>
          </a:p>
        </p:txBody>
      </p:sp>
    </p:spTree>
    <p:extLst>
      <p:ext uri="{BB962C8B-B14F-4D97-AF65-F5344CB8AC3E}">
        <p14:creationId xmlns:p14="http://schemas.microsoft.com/office/powerpoint/2010/main" val="468565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C01F9-A113-1A8F-980D-D9FF3EAC6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596BA-EEE6-E552-FE06-37C3E856345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48A50D2-87C2-9C49-AF71-21A721B0B81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BF8C950-D6CD-FEE6-5896-1FBF827CF3BE}"/>
              </a:ext>
            </a:extLst>
          </p:cNvPr>
          <p:cNvSpPr>
            <a:spLocks noGrp="1"/>
          </p:cNvSpPr>
          <p:nvPr>
            <p:ph type="sldNum" sz="quarter" idx="5"/>
          </p:nvPr>
        </p:nvSpPr>
        <p:spPr/>
        <p:txBody>
          <a:bodyPr/>
          <a:lstStyle/>
          <a:p>
            <a:fld id="{10A9F75F-0FDB-44BC-A000-0632E5AFF4E1}" type="slidenum">
              <a:rPr lang="en-US" smtClean="0"/>
              <a:t>1</a:t>
            </a:fld>
            <a:endParaRPr lang="en-US"/>
          </a:p>
        </p:txBody>
      </p:sp>
    </p:spTree>
    <p:extLst>
      <p:ext uri="{BB962C8B-B14F-4D97-AF65-F5344CB8AC3E}">
        <p14:creationId xmlns:p14="http://schemas.microsoft.com/office/powerpoint/2010/main" val="2931997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1AD87-2BC8-23AF-D51B-51222D24C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E813F7-1BFC-122E-576C-1077C353B4E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99677C-8109-E7A2-ED3E-11502BBFAE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4031D3-26BF-55C5-A556-005651AE0011}"/>
              </a:ext>
            </a:extLst>
          </p:cNvPr>
          <p:cNvSpPr>
            <a:spLocks noGrp="1"/>
          </p:cNvSpPr>
          <p:nvPr>
            <p:ph type="sldNum" sz="quarter" idx="5"/>
          </p:nvPr>
        </p:nvSpPr>
        <p:spPr/>
        <p:txBody>
          <a:bodyPr/>
          <a:lstStyle/>
          <a:p>
            <a:fld id="{10A9F75F-0FDB-44BC-A000-0632E5AFF4E1}" type="slidenum">
              <a:rPr lang="en-US" smtClean="0"/>
              <a:t>2</a:t>
            </a:fld>
            <a:endParaRPr lang="en-US"/>
          </a:p>
        </p:txBody>
      </p:sp>
    </p:spTree>
    <p:extLst>
      <p:ext uri="{BB962C8B-B14F-4D97-AF65-F5344CB8AC3E}">
        <p14:creationId xmlns:p14="http://schemas.microsoft.com/office/powerpoint/2010/main" val="2139143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DFD62-C80D-3586-208D-9D3743491B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E3D26A-0441-FE23-032F-040FDA98F0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F1D028-CCAB-BF7E-3E93-3FB76437FCE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613215-55D6-76E6-4BD0-2706B67E3913}"/>
              </a:ext>
            </a:extLst>
          </p:cNvPr>
          <p:cNvSpPr>
            <a:spLocks noGrp="1"/>
          </p:cNvSpPr>
          <p:nvPr>
            <p:ph type="sldNum" sz="quarter" idx="5"/>
          </p:nvPr>
        </p:nvSpPr>
        <p:spPr/>
        <p:txBody>
          <a:bodyPr/>
          <a:lstStyle/>
          <a:p>
            <a:fld id="{10A9F75F-0FDB-44BC-A000-0632E5AFF4E1}" type="slidenum">
              <a:rPr lang="en-US" smtClean="0"/>
              <a:t>3</a:t>
            </a:fld>
            <a:endParaRPr lang="en-US"/>
          </a:p>
        </p:txBody>
      </p:sp>
    </p:spTree>
    <p:extLst>
      <p:ext uri="{BB962C8B-B14F-4D97-AF65-F5344CB8AC3E}">
        <p14:creationId xmlns:p14="http://schemas.microsoft.com/office/powerpoint/2010/main" val="3115535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53982-637B-255A-BE1D-617352ABD1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E5BF30-7FBB-7685-BC5B-EB84E6304A7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86E9CBB-8587-5265-2261-94601BF46DD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826178-B17B-A80A-8865-8C4DE4FECF76}"/>
              </a:ext>
            </a:extLst>
          </p:cNvPr>
          <p:cNvSpPr>
            <a:spLocks noGrp="1"/>
          </p:cNvSpPr>
          <p:nvPr>
            <p:ph type="sldNum" sz="quarter" idx="5"/>
          </p:nvPr>
        </p:nvSpPr>
        <p:spPr/>
        <p:txBody>
          <a:bodyPr/>
          <a:lstStyle/>
          <a:p>
            <a:fld id="{10A9F75F-0FDB-44BC-A000-0632E5AFF4E1}" type="slidenum">
              <a:rPr lang="en-US" smtClean="0"/>
              <a:t>4</a:t>
            </a:fld>
            <a:endParaRPr lang="en-US"/>
          </a:p>
        </p:txBody>
      </p:sp>
    </p:spTree>
    <p:extLst>
      <p:ext uri="{BB962C8B-B14F-4D97-AF65-F5344CB8AC3E}">
        <p14:creationId xmlns:p14="http://schemas.microsoft.com/office/powerpoint/2010/main" val="2926050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8135264"/>
      </p:ext>
    </p:extLst>
  </p:cSld>
  <p:clrMapOvr>
    <a:masterClrMapping/>
  </p:clrMapOvr>
  <p:extLst>
    <p:ext uri="{DCECCB84-F9BA-43D5-87BE-67443E8EF086}">
      <p15:sldGuideLst xmlns:p15="http://schemas.microsoft.com/office/powerpoint/2012/main">
        <p15:guide id="1" orient="horz" pos="3168" userDrawn="1">
          <p15:clr>
            <a:srgbClr val="FBAE40"/>
          </p15:clr>
        </p15:guide>
        <p15:guide id="2" pos="244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column ">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329854-7555-4C0C-93DB-6970EB4EA96E}"/>
              </a:ext>
            </a:extLst>
          </p:cNvPr>
          <p:cNvSpPr>
            <a:spLocks noGrp="1"/>
          </p:cNvSpPr>
          <p:nvPr>
            <p:ph type="sldNum" sz="quarter" idx="10"/>
          </p:nvPr>
        </p:nvSpPr>
        <p:spPr/>
        <p:txBody>
          <a:bodyPr/>
          <a:lstStyle/>
          <a:p>
            <a:r>
              <a:rPr lang="en-US"/>
              <a:t>NIGHTMARKET  |   </a:t>
            </a:r>
            <a:fld id="{420EFE5E-B2EA-459C-B3ED-8417E0118FA7}" type="slidenum">
              <a:rPr lang="en-US" smtClean="0"/>
              <a:pPr/>
              <a:t>‹#›</a:t>
            </a:fld>
            <a:endParaRPr lang="en-US"/>
          </a:p>
        </p:txBody>
      </p:sp>
      <p:sp>
        <p:nvSpPr>
          <p:cNvPr id="5" name="Content Placeholder 4">
            <a:extLst>
              <a:ext uri="{FF2B5EF4-FFF2-40B4-BE49-F238E27FC236}">
                <a16:creationId xmlns:a16="http://schemas.microsoft.com/office/drawing/2014/main" id="{56ED3696-AFD4-ED04-C4D1-EF2EC61391EE}"/>
              </a:ext>
            </a:extLst>
          </p:cNvPr>
          <p:cNvSpPr>
            <a:spLocks noGrp="1"/>
          </p:cNvSpPr>
          <p:nvPr>
            <p:ph sz="quarter" idx="11"/>
          </p:nvPr>
        </p:nvSpPr>
        <p:spPr>
          <a:xfrm>
            <a:off x="385763" y="568324"/>
            <a:ext cx="7073900" cy="9164955"/>
          </a:xfrm>
          <a:prstGeom prst="rect">
            <a:avLst/>
          </a:prstGeom>
        </p:spPr>
        <p:txBody>
          <a:bodyPr numCol="2" spcCol="182880"/>
          <a:lstStyle>
            <a:lvl1pPr marL="0" indent="0" hangingPunct="0">
              <a:lnSpc>
                <a:spcPct val="110000"/>
              </a:lnSpc>
              <a:spcBef>
                <a:spcPts val="1450"/>
              </a:spcBef>
              <a:buNone/>
              <a:defRPr sz="1100">
                <a:latin typeface="Avenir Next" panose="020B0503020202020204" pitchFamily="34" charset="0"/>
              </a:defRPr>
            </a:lvl1pPr>
            <a:lvl2pPr marL="388620" indent="0">
              <a:lnSpc>
                <a:spcPct val="110000"/>
              </a:lnSpc>
              <a:buNone/>
              <a:defRPr sz="1100">
                <a:latin typeface="Avenir Next" panose="020B0503020202020204" pitchFamily="34" charset="0"/>
              </a:defRPr>
            </a:lvl2pPr>
            <a:lvl3pPr marL="777240" indent="0">
              <a:lnSpc>
                <a:spcPct val="110000"/>
              </a:lnSpc>
              <a:buNone/>
              <a:defRPr sz="1100">
                <a:latin typeface="Avenir Next" panose="020B0503020202020204" pitchFamily="34" charset="0"/>
              </a:defRPr>
            </a:lvl3pPr>
            <a:lvl4pPr marL="1165860" indent="0">
              <a:lnSpc>
                <a:spcPct val="110000"/>
              </a:lnSpc>
              <a:buNone/>
              <a:defRPr sz="1100">
                <a:latin typeface="Avenir Next" panose="020B0503020202020204" pitchFamily="34" charset="0"/>
              </a:defRPr>
            </a:lvl4pPr>
            <a:lvl5pPr marL="1554480" indent="0">
              <a:lnSpc>
                <a:spcPct val="110000"/>
              </a:lnSpc>
              <a:buNone/>
              <a:defRPr sz="1100">
                <a:latin typeface="Avenir Next" panose="020B05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1244993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Titl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329854-7555-4C0C-93DB-6970EB4EA96E}"/>
              </a:ext>
            </a:extLst>
          </p:cNvPr>
          <p:cNvSpPr>
            <a:spLocks noGrp="1"/>
          </p:cNvSpPr>
          <p:nvPr>
            <p:ph type="sldNum" sz="quarter" idx="10"/>
          </p:nvPr>
        </p:nvSpPr>
        <p:spPr/>
        <p:txBody>
          <a:bodyPr/>
          <a:lstStyle/>
          <a:p>
            <a:r>
              <a:rPr lang="en-US"/>
              <a:t>HORIZON MEDIA   |   </a:t>
            </a:r>
            <a:fld id="{420EFE5E-B2EA-459C-B3ED-8417E0118FA7}" type="slidenum">
              <a:rPr lang="en-US" smtClean="0"/>
              <a:pPr/>
              <a:t>‹#›</a:t>
            </a:fld>
            <a:endParaRPr lang="en-US"/>
          </a:p>
        </p:txBody>
      </p:sp>
      <p:sp>
        <p:nvSpPr>
          <p:cNvPr id="3" name="Content Placeholder 3">
            <a:extLst>
              <a:ext uri="{FF2B5EF4-FFF2-40B4-BE49-F238E27FC236}">
                <a16:creationId xmlns:a16="http://schemas.microsoft.com/office/drawing/2014/main" id="{D86B2C63-3130-7A2E-A964-3B32FFCDEEC5}"/>
              </a:ext>
            </a:extLst>
          </p:cNvPr>
          <p:cNvSpPr>
            <a:spLocks noGrp="1"/>
          </p:cNvSpPr>
          <p:nvPr>
            <p:ph sz="quarter" idx="11"/>
          </p:nvPr>
        </p:nvSpPr>
        <p:spPr>
          <a:xfrm>
            <a:off x="457200" y="594678"/>
            <a:ext cx="6858000" cy="340478"/>
          </a:xfrm>
          <a:prstGeom prst="rect">
            <a:avLst/>
          </a:prstGeom>
        </p:spPr>
        <p:txBody>
          <a:bodyPr>
            <a:spAutoFit/>
          </a:bodyPr>
          <a:lstStyle>
            <a:lvl1pPr marL="0" indent="0">
              <a:lnSpc>
                <a:spcPct val="110000"/>
              </a:lnSpc>
              <a:spcBef>
                <a:spcPts val="600"/>
              </a:spcBef>
              <a:buNone/>
              <a:defRPr sz="1500" b="1" i="0">
                <a:solidFill>
                  <a:schemeClr val="accent1"/>
                </a:solidFill>
                <a:latin typeface="Poppins SemiBold" pitchFamily="2" charset="77"/>
                <a:cs typeface="Poppins SemiBold" pitchFamily="2" charset="77"/>
              </a:defRPr>
            </a:lvl1pPr>
          </a:lstStyle>
          <a:p>
            <a:pPr lvl="0"/>
            <a:r>
              <a:rPr lang="en-US"/>
              <a:t>Click to edit Master text styles</a:t>
            </a:r>
          </a:p>
        </p:txBody>
      </p:sp>
    </p:spTree>
    <p:extLst>
      <p:ext uri="{BB962C8B-B14F-4D97-AF65-F5344CB8AC3E}">
        <p14:creationId xmlns:p14="http://schemas.microsoft.com/office/powerpoint/2010/main" val="15733660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5710438" y="186966"/>
            <a:ext cx="1748790" cy="249823"/>
          </a:xfrm>
          <a:prstGeom prst="rect">
            <a:avLst/>
          </a:prstGeom>
        </p:spPr>
        <p:txBody>
          <a:bodyPr vert="horz" lIns="91440" tIns="45720" rIns="91440" bIns="45720" rtlCol="0" anchor="ctr"/>
          <a:lstStyle>
            <a:lvl1pPr algn="r">
              <a:defRPr sz="600">
                <a:solidFill>
                  <a:schemeClr val="tx1"/>
                </a:solidFill>
                <a:latin typeface="Poppins" panose="00000500000000000000" pitchFamily="2" charset="0"/>
                <a:cs typeface="Poppins" panose="00000500000000000000" pitchFamily="2" charset="0"/>
              </a:defRPr>
            </a:lvl1pPr>
          </a:lstStyle>
          <a:p>
            <a:r>
              <a:rPr lang="en-US"/>
              <a:t>HORIZON  |  </a:t>
            </a:r>
            <a:fld id="{420EFE5E-B2EA-459C-B3ED-8417E0118FA7}" type="slidenum">
              <a:rPr lang="en-US" smtClean="0"/>
              <a:pPr/>
              <a:t>‹#›</a:t>
            </a:fld>
            <a:endParaRPr lang="en-US"/>
          </a:p>
        </p:txBody>
      </p:sp>
      <p:cxnSp>
        <p:nvCxnSpPr>
          <p:cNvPr id="3" name="Straight Connector 2">
            <a:extLst>
              <a:ext uri="{FF2B5EF4-FFF2-40B4-BE49-F238E27FC236}">
                <a16:creationId xmlns:a16="http://schemas.microsoft.com/office/drawing/2014/main" id="{32DBF4E3-1DC2-4CF3-A9B6-08CC99B06149}"/>
              </a:ext>
            </a:extLst>
          </p:cNvPr>
          <p:cNvCxnSpPr>
            <a:cxnSpLocks/>
          </p:cNvCxnSpPr>
          <p:nvPr userDrawn="1"/>
        </p:nvCxnSpPr>
        <p:spPr>
          <a:xfrm>
            <a:off x="400050" y="408214"/>
            <a:ext cx="69723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5481160"/>
      </p:ext>
    </p:extLst>
  </p:cSld>
  <p:clrMap bg1="lt1" tx1="dk1" bg2="lt2" tx2="dk2" accent1="accent1" accent2="accent2" accent3="accent3" accent4="accent4" accent5="accent5" accent6="accent6" hlink="hlink" folHlink="folHlink"/>
  <p:sldLayoutIdLst>
    <p:sldLayoutId id="2147483678" r:id="rId1"/>
    <p:sldLayoutId id="2147483676" r:id="rId2"/>
    <p:sldLayoutId id="2147483679" r:id="rId3"/>
  </p:sldLayoutIdLst>
  <p:hf hdr="0" dt="0"/>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emf"/><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microsoft.com/office/2018/10/relationships/comments" Target="../comments/modernComment_7FFFF872_CE42F96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eg"/><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7D7727A8-8A42-3C20-83FE-2A8E6DE0F7AA}"/>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C4141B9B-85BB-9FEC-DE60-845B16CB740B}"/>
              </a:ext>
            </a:extLst>
          </p:cNvPr>
          <p:cNvSpPr txBox="1"/>
          <p:nvPr/>
        </p:nvSpPr>
        <p:spPr>
          <a:xfrm>
            <a:off x="2326640" y="10160"/>
            <a:ext cx="184731" cy="276871"/>
          </a:xfrm>
          <a:prstGeom prst="rect">
            <a:avLst/>
          </a:prstGeom>
          <a:solidFill>
            <a:srgbClr val="0B0732"/>
          </a:solidFill>
        </p:spPr>
        <p:txBody>
          <a:bodyPr wrap="none" rtlCol="0">
            <a:spAutoFit/>
          </a:bodyPr>
          <a:lstStyle/>
          <a:p>
            <a:pPr algn="l">
              <a:lnSpc>
                <a:spcPct val="112000"/>
              </a:lnSpc>
              <a:spcBef>
                <a:spcPts val="1200"/>
              </a:spcBef>
            </a:pPr>
            <a:endParaRPr lang="en-US" sz="1100">
              <a:latin typeface="Poppins" panose="00000500000000000000" pitchFamily="2" charset="0"/>
              <a:cs typeface="Poppins" panose="00000500000000000000" pitchFamily="2" charset="0"/>
            </a:endParaRPr>
          </a:p>
        </p:txBody>
      </p:sp>
      <p:sp>
        <p:nvSpPr>
          <p:cNvPr id="3" name="Rectangle 2">
            <a:extLst>
              <a:ext uri="{FF2B5EF4-FFF2-40B4-BE49-F238E27FC236}">
                <a16:creationId xmlns:a16="http://schemas.microsoft.com/office/drawing/2014/main" id="{10CCF626-4AB5-A512-DF1A-8631A206F5F8}"/>
              </a:ext>
            </a:extLst>
          </p:cNvPr>
          <p:cNvSpPr/>
          <p:nvPr/>
        </p:nvSpPr>
        <p:spPr>
          <a:xfrm>
            <a:off x="313173" y="301057"/>
            <a:ext cx="7146054" cy="276871"/>
          </a:xfrm>
          <a:prstGeom prst="rect">
            <a:avLst/>
          </a:prstGeom>
          <a:solidFill>
            <a:srgbClr val="0B07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Poppins SemiBold" panose="00000700000000000000" pitchFamily="2" charset="0"/>
              <a:cs typeface="Poppins SemiBold" panose="00000700000000000000" pitchFamily="2" charset="0"/>
            </a:endParaRPr>
          </a:p>
        </p:txBody>
      </p:sp>
      <p:sp>
        <p:nvSpPr>
          <p:cNvPr id="8" name="TextBox 7">
            <a:extLst>
              <a:ext uri="{FF2B5EF4-FFF2-40B4-BE49-F238E27FC236}">
                <a16:creationId xmlns:a16="http://schemas.microsoft.com/office/drawing/2014/main" id="{D8A186F7-C276-50F3-3F0E-7793A483990D}"/>
              </a:ext>
            </a:extLst>
          </p:cNvPr>
          <p:cNvSpPr txBox="1"/>
          <p:nvPr/>
        </p:nvSpPr>
        <p:spPr>
          <a:xfrm>
            <a:off x="528856" y="8150587"/>
            <a:ext cx="4035286" cy="327205"/>
          </a:xfrm>
          <a:prstGeom prst="rect">
            <a:avLst/>
          </a:prstGeom>
          <a:noFill/>
        </p:spPr>
        <p:txBody>
          <a:bodyPr wrap="square">
            <a:spAutoFit/>
          </a:bodyPr>
          <a:lstStyle/>
          <a:p>
            <a:pPr marL="0" marR="0" lvl="0" indent="0" algn="l" defTabSz="914400" rtl="0" eaLnBrk="1" fontAlgn="auto" latinLnBrk="0" hangingPunct="1">
              <a:lnSpc>
                <a:spcPct val="112000"/>
              </a:lnSpc>
              <a:spcBef>
                <a:spcPts val="0"/>
              </a:spcBef>
              <a:spcAft>
                <a:spcPts val="0"/>
              </a:spcAft>
              <a:buClrTx/>
              <a:buSzTx/>
              <a:buFontTx/>
              <a:buNone/>
              <a:tabLst/>
              <a:defRPr/>
            </a:pPr>
            <a:r>
              <a:rPr lang="en-US" sz="1400">
                <a:solidFill>
                  <a:schemeClr val="bg1"/>
                </a:solidFill>
                <a:latin typeface="Poppins" pitchFamily="2" charset="77"/>
                <a:cs typeface="Poppins" pitchFamily="2" charset="77"/>
              </a:rPr>
              <a:t>JUNE 15, 2026</a:t>
            </a:r>
          </a:p>
        </p:txBody>
      </p:sp>
      <p:pic>
        <p:nvPicPr>
          <p:cNvPr id="7" name="Picture 4">
            <a:extLst>
              <a:ext uri="{FF2B5EF4-FFF2-40B4-BE49-F238E27FC236}">
                <a16:creationId xmlns:a16="http://schemas.microsoft.com/office/drawing/2014/main" id="{F8BD9BC9-1B44-833C-368A-051B8A64241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7570" r="17570"/>
          <a:stretch/>
        </p:blipFill>
        <p:spPr bwMode="auto">
          <a:xfrm>
            <a:off x="0" y="1"/>
            <a:ext cx="7772400" cy="554812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89F4E757-7E3B-C485-F9D1-CA3C2899839A}"/>
              </a:ext>
            </a:extLst>
          </p:cNvPr>
          <p:cNvSpPr/>
          <p:nvPr/>
        </p:nvSpPr>
        <p:spPr>
          <a:xfrm>
            <a:off x="0" y="1383291"/>
            <a:ext cx="7772400" cy="4174998"/>
          </a:xfrm>
          <a:prstGeom prst="rect">
            <a:avLst/>
          </a:prstGeom>
          <a:gradFill flip="none" rotWithShape="1">
            <a:gsLst>
              <a:gs pos="15000">
                <a:schemeClr val="tx2"/>
              </a:gs>
              <a:gs pos="100000">
                <a:schemeClr val="tx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Poppins SemiBold" panose="00000700000000000000" pitchFamily="2" charset="0"/>
              <a:cs typeface="Poppins SemiBold" panose="00000700000000000000" pitchFamily="2" charset="0"/>
            </a:endParaRPr>
          </a:p>
        </p:txBody>
      </p:sp>
      <p:pic>
        <p:nvPicPr>
          <p:cNvPr id="5" name="Picture 4">
            <a:extLst>
              <a:ext uri="{FF2B5EF4-FFF2-40B4-BE49-F238E27FC236}">
                <a16:creationId xmlns:a16="http://schemas.microsoft.com/office/drawing/2014/main" id="{20D69555-BB18-2838-426C-E97761FD4B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7570" r="17570"/>
          <a:stretch/>
        </p:blipFill>
        <p:spPr bwMode="auto">
          <a:xfrm>
            <a:off x="0" y="1"/>
            <a:ext cx="7772400" cy="554812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81229D66-C737-DA93-83DB-363CD2B8EC76}"/>
              </a:ext>
            </a:extLst>
          </p:cNvPr>
          <p:cNvSpPr/>
          <p:nvPr/>
        </p:nvSpPr>
        <p:spPr>
          <a:xfrm>
            <a:off x="-1" y="1546161"/>
            <a:ext cx="7772402" cy="4012127"/>
          </a:xfrm>
          <a:prstGeom prst="rect">
            <a:avLst/>
          </a:prstGeom>
          <a:gradFill>
            <a:gsLst>
              <a:gs pos="75000">
                <a:schemeClr val="tx2"/>
              </a:gs>
              <a:gs pos="0">
                <a:schemeClr val="tx2">
                  <a:alpha val="0"/>
                </a:schemeClr>
              </a:gs>
            </a:gsLst>
            <a:lin ang="5400000" scaled="1"/>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endParaRPr>
          </a:p>
        </p:txBody>
      </p:sp>
      <p:pic>
        <p:nvPicPr>
          <p:cNvPr id="15" name="Picture 14">
            <a:extLst>
              <a:ext uri="{FF2B5EF4-FFF2-40B4-BE49-F238E27FC236}">
                <a16:creationId xmlns:a16="http://schemas.microsoft.com/office/drawing/2014/main" id="{27A3748C-60C2-35B0-ACB5-B2F40C1EE0D8}"/>
              </a:ext>
            </a:extLst>
          </p:cNvPr>
          <p:cNvPicPr>
            <a:picLocks noChangeAspect="1"/>
          </p:cNvPicPr>
          <p:nvPr/>
        </p:nvPicPr>
        <p:blipFill>
          <a:blip r:embed="rId4">
            <a:lum bright="100000"/>
          </a:blip>
          <a:stretch>
            <a:fillRect/>
          </a:stretch>
        </p:blipFill>
        <p:spPr>
          <a:xfrm>
            <a:off x="652555" y="9350142"/>
            <a:ext cx="1244043" cy="218369"/>
          </a:xfrm>
          <a:prstGeom prst="rect">
            <a:avLst/>
          </a:prstGeom>
        </p:spPr>
      </p:pic>
      <p:pic>
        <p:nvPicPr>
          <p:cNvPr id="11" name="Picture 2" descr="A person wearing a garment&#10;&#10;Description automatically generated with medium confidence">
            <a:extLst>
              <a:ext uri="{FF2B5EF4-FFF2-40B4-BE49-F238E27FC236}">
                <a16:creationId xmlns:a16="http://schemas.microsoft.com/office/drawing/2014/main" id="{08594F84-0BF7-4CC5-07F3-C7407D604C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1849" y="7706914"/>
            <a:ext cx="1691640" cy="234502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E17D794-AD6A-5BDB-FE92-87377CDC247D}"/>
              </a:ext>
            </a:extLst>
          </p:cNvPr>
          <p:cNvSpPr txBox="1"/>
          <p:nvPr/>
        </p:nvSpPr>
        <p:spPr>
          <a:xfrm>
            <a:off x="528857" y="4702428"/>
            <a:ext cx="6930370" cy="1045671"/>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85000"/>
              </a:lnSpc>
              <a:spcBef>
                <a:spcPts val="600"/>
              </a:spcBef>
              <a:spcAft>
                <a:spcPts val="0"/>
              </a:spcAft>
              <a:buClrTx/>
              <a:buSzTx/>
              <a:buFontTx/>
              <a:buNone/>
              <a:tabLst/>
              <a:defRPr/>
            </a:pPr>
            <a:r>
              <a:rPr kumimoji="0" lang="en-US" sz="3600" b="1" u="none" strike="noStrike" kern="1200" cap="none" spc="0" normalizeH="0" baseline="0" noProof="0">
                <a:ln>
                  <a:noFill/>
                </a:ln>
                <a:solidFill>
                  <a:srgbClr val="00A3E0"/>
                </a:solidFill>
                <a:effectLst/>
                <a:uLnTx/>
                <a:uFillTx/>
                <a:latin typeface="Poppins" pitchFamily="2" charset="77"/>
                <a:cs typeface="Poppins" pitchFamily="2" charset="77"/>
              </a:rPr>
              <a:t>Custom Creative Agent &amp; Business Intelligence</a:t>
            </a:r>
          </a:p>
        </p:txBody>
      </p:sp>
      <p:sp>
        <p:nvSpPr>
          <p:cNvPr id="6" name="TextBox 5">
            <a:extLst>
              <a:ext uri="{FF2B5EF4-FFF2-40B4-BE49-F238E27FC236}">
                <a16:creationId xmlns:a16="http://schemas.microsoft.com/office/drawing/2014/main" id="{8D001B60-9E28-FFAE-A1F3-A3E341C47F48}"/>
              </a:ext>
            </a:extLst>
          </p:cNvPr>
          <p:cNvSpPr txBox="1"/>
          <p:nvPr/>
        </p:nvSpPr>
        <p:spPr>
          <a:xfrm>
            <a:off x="528856" y="5891329"/>
            <a:ext cx="6804632" cy="2116028"/>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12000"/>
              </a:lnSpc>
              <a:spcBef>
                <a:spcPts val="0"/>
              </a:spcBef>
              <a:spcAft>
                <a:spcPts val="0"/>
              </a:spcAft>
              <a:buClrTx/>
              <a:buSzTx/>
              <a:buFontTx/>
              <a:buNone/>
              <a:tabLst/>
              <a:defRPr/>
            </a:pPr>
            <a:r>
              <a:rPr lang="en-US" sz="2000" b="1">
                <a:solidFill>
                  <a:schemeClr val="bg1"/>
                </a:solidFill>
                <a:latin typeface="Poppins SemiBold" pitchFamily="2" charset="77"/>
                <a:cs typeface="Poppins SemiBold" pitchFamily="2" charset="77"/>
              </a:rPr>
              <a:t>OVERVIEW</a:t>
            </a:r>
          </a:p>
          <a:p>
            <a:pPr marL="0" marR="0" lvl="0" indent="0" algn="l" defTabSz="914400" rtl="0" eaLnBrk="1" fontAlgn="auto" latinLnBrk="0" hangingPunct="1">
              <a:lnSpc>
                <a:spcPct val="112000"/>
              </a:lnSpc>
              <a:spcBef>
                <a:spcPts val="0"/>
              </a:spcBef>
              <a:spcAft>
                <a:spcPts val="0"/>
              </a:spcAft>
              <a:buClrTx/>
              <a:buSzTx/>
              <a:buFontTx/>
              <a:buNone/>
              <a:tabLst/>
              <a:defRPr/>
            </a:pPr>
            <a:r>
              <a:rPr lang="en-US" sz="1400">
                <a:solidFill>
                  <a:schemeClr val="bg1"/>
                </a:solidFill>
                <a:latin typeface="Poppins" pitchFamily="2" charset="77"/>
                <a:ea typeface="+mn-lt"/>
                <a:cs typeface="Poppins" pitchFamily="2" charset="77"/>
              </a:rPr>
              <a:t>Bob’s Discount Furniture seeks expanded competitive intelligence on messaging and merchandising strategy, such as changes in offers or market dynamics, compared to their marketing strategy. Horizon has </a:t>
            </a:r>
            <a:r>
              <a:rPr lang="en-US" sz="1400" b="0" i="0" u="none" strike="noStrike" kern="1200" cap="none" spc="0" normalizeH="0" baseline="0" noProof="0">
                <a:ln>
                  <a:noFill/>
                </a:ln>
                <a:solidFill>
                  <a:schemeClr val="bg1"/>
                </a:solidFill>
                <a:effectLst/>
                <a:uLnTx/>
                <a:uFillTx/>
                <a:latin typeface="Poppins" pitchFamily="2" charset="77"/>
                <a:ea typeface="+mn-lt"/>
                <a:cs typeface="Poppins" pitchFamily="2" charset="77"/>
              </a:rPr>
              <a:t>developed a</a:t>
            </a:r>
            <a:r>
              <a:rPr lang="en-US" sz="1400">
                <a:solidFill>
                  <a:schemeClr val="bg1"/>
                </a:solidFill>
                <a:latin typeface="Poppins" pitchFamily="2" charset="77"/>
                <a:ea typeface="+mn-lt"/>
                <a:cs typeface="Poppins" pitchFamily="2" charset="77"/>
              </a:rPr>
              <a:t>n AI agent </a:t>
            </a:r>
            <a:r>
              <a:rPr lang="en-US" sz="1400" b="0" i="0" u="none" strike="noStrike" kern="1200" cap="none" spc="0" normalizeH="0" baseline="0" noProof="0">
                <a:ln>
                  <a:noFill/>
                </a:ln>
                <a:solidFill>
                  <a:schemeClr val="bg1"/>
                </a:solidFill>
                <a:effectLst/>
                <a:uLnTx/>
                <a:uFillTx/>
                <a:latin typeface="Poppins" pitchFamily="2" charset="77"/>
                <a:ea typeface="+mn-lt"/>
                <a:cs typeface="Poppins" pitchFamily="2" charset="77"/>
              </a:rPr>
              <a:t>pro</a:t>
            </a:r>
            <a:r>
              <a:rPr lang="en-US" sz="1400" err="1">
                <a:solidFill>
                  <a:schemeClr val="bg1"/>
                </a:solidFill>
                <a:latin typeface="Poppins" pitchFamily="2" charset="77"/>
                <a:ea typeface="+mn-lt"/>
                <a:cs typeface="Poppins" pitchFamily="2" charset="77"/>
              </a:rPr>
              <a:t>totype</a:t>
            </a:r>
            <a:r>
              <a:rPr lang="en-US" sz="1400">
                <a:solidFill>
                  <a:schemeClr val="bg1"/>
                </a:solidFill>
                <a:latin typeface="Poppins" pitchFamily="2" charset="77"/>
                <a:ea typeface="+mn-lt"/>
                <a:cs typeface="Poppins" pitchFamily="2" charset="77"/>
              </a:rPr>
              <a:t> that analyzes ad and website creative, to be built in Bob’s location of choice with total ownership of underlying data and customization of agentic capability for continued enhancement over time – for an AI-enabled edge over the competition.</a:t>
            </a:r>
            <a:endParaRPr lang="en-US" sz="1400" b="0" i="0" u="none" strike="noStrike" kern="1200" cap="none" spc="0" normalizeH="0" baseline="0" noProof="0">
              <a:ln>
                <a:noFill/>
              </a:ln>
              <a:solidFill>
                <a:schemeClr val="bg1"/>
              </a:solidFill>
              <a:effectLst/>
              <a:uLnTx/>
              <a:uFillTx/>
              <a:latin typeface="Poppins" pitchFamily="2" charset="77"/>
              <a:ea typeface="+mn-lt"/>
              <a:cs typeface="Poppins" pitchFamily="2" charset="77"/>
            </a:endParaRPr>
          </a:p>
        </p:txBody>
      </p:sp>
    </p:spTree>
    <p:extLst>
      <p:ext uri="{BB962C8B-B14F-4D97-AF65-F5344CB8AC3E}">
        <p14:creationId xmlns:p14="http://schemas.microsoft.com/office/powerpoint/2010/main" val="3285859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D993C-C50A-3B5D-8C99-8665C74B847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79643E1-713D-A946-E50A-A349304E3819}"/>
              </a:ext>
            </a:extLst>
          </p:cNvPr>
          <p:cNvSpPr txBox="1"/>
          <p:nvPr/>
        </p:nvSpPr>
        <p:spPr>
          <a:xfrm>
            <a:off x="457200" y="1097280"/>
            <a:ext cx="6858000" cy="9339416"/>
          </a:xfrm>
          <a:prstGeom prst="rect">
            <a:avLst/>
          </a:prstGeom>
          <a:noFill/>
        </p:spPr>
        <p:txBody>
          <a:bodyPr wrap="square" lIns="91440" tIns="91440" rIns="91440" bIns="91440" anchor="t">
            <a:spAutoFit/>
          </a:bodyPr>
          <a:lstStyle/>
          <a:p>
            <a:pPr>
              <a:lnSpc>
                <a:spcPct val="110000"/>
              </a:lnSpc>
              <a:spcAft>
                <a:spcPts val="800"/>
              </a:spcAft>
              <a:buNone/>
            </a:pPr>
            <a:r>
              <a:rPr lang="en-US" sz="1050" dirty="0">
                <a:latin typeface="Poppins"/>
                <a:cs typeface="Poppins"/>
              </a:rPr>
              <a:t>Horizon’s Digital Experience team has begun building agentic experiences owned by brands: including marketing agents that act autonomously to analyze business opportunities.</a:t>
            </a:r>
          </a:p>
          <a:p>
            <a:pPr>
              <a:lnSpc>
                <a:spcPct val="110000"/>
              </a:lnSpc>
              <a:spcAft>
                <a:spcPts val="800"/>
              </a:spcAft>
              <a:buNone/>
            </a:pPr>
            <a:r>
              <a:rPr lang="en-US" sz="1050" dirty="0">
                <a:latin typeface="Poppins"/>
                <a:cs typeface="Poppins"/>
              </a:rPr>
              <a:t>As part of that initiative, we’ve prototyped a custom AI agent for creative analysis for Bob’s Discount Furniture that addresses business questions and potential optimizations for you messaging and merchandising strategy. This agent collects publicly available creative assets from Meta’s Ads Library, Google Search Ads 360 (SA 360) and website properties from a defined list of competitors versus Bob’s presence on a daily basis. These assets are then scraped for data attributes such as featured offers, categories, CTAs, RTBs, product vs. lifestyle imagery, or other areas as directed, with granular data timestamped and saved into a database. The agent uses these data points to complete analysis against a Horizon framework for creative analytics and best practices, applying any provided competitor or brand-nuance to refine its output. An analysis report can be scheduled at whatever frequency you see fit, alongside real-time and trended reporting provided using the underlying data as visualized within your instance of </a:t>
            </a:r>
            <a:r>
              <a:rPr lang="en-US" sz="1050" dirty="0" err="1">
                <a:latin typeface="Poppins"/>
                <a:cs typeface="Poppins"/>
              </a:rPr>
              <a:t>PowerBI</a:t>
            </a:r>
            <a:r>
              <a:rPr lang="en-US" sz="1050" dirty="0">
                <a:latin typeface="Poppins"/>
                <a:cs typeface="Poppins"/>
              </a:rPr>
              <a:t>. Additionally, the agent can be configured to flag alerts for changes to or outliers within the data set, and a conversation agent can be applied to further explore and ask questions of the compiled information. Data governance is created for all data sets, allowing for ease of reference and joining with other tables in your BI environment – for future expanded analysis, such as mapping to performance outcomes or incorporation into demand forecasting or media mix modelling. </a:t>
            </a:r>
          </a:p>
          <a:p>
            <a:pPr>
              <a:lnSpc>
                <a:spcPct val="110000"/>
              </a:lnSpc>
              <a:spcAft>
                <a:spcPts val="800"/>
              </a:spcAft>
              <a:buNone/>
            </a:pPr>
            <a:r>
              <a:rPr lang="en-US" sz="1050" b="1" dirty="0">
                <a:solidFill>
                  <a:schemeClr val="accent1"/>
                </a:solidFill>
                <a:latin typeface="Poppins SemiBold" pitchFamily="2" charset="77"/>
                <a:cs typeface="Poppins SemiBold" pitchFamily="2" charset="77"/>
              </a:rPr>
              <a:t>Proposed Scope</a:t>
            </a:r>
            <a:endParaRPr lang="en-US" sz="1050" dirty="0">
              <a:latin typeface="Poppins" pitchFamily="2" charset="77"/>
              <a:cs typeface="Poppins" pitchFamily="2" charset="77"/>
            </a:endParaRPr>
          </a:p>
          <a:p>
            <a:pPr>
              <a:lnSpc>
                <a:spcPct val="110000"/>
              </a:lnSpc>
              <a:spcAft>
                <a:spcPts val="800"/>
              </a:spcAft>
            </a:pPr>
            <a:r>
              <a:rPr lang="en-US" sz="1050" dirty="0">
                <a:latin typeface="Poppins"/>
                <a:cs typeface="Poppins"/>
              </a:rPr>
              <a:t>Horizon proposes a project-based scope to build and deploy this agent within Bob’s existing infrastructure. </a:t>
            </a:r>
            <a:endParaRPr lang="en-US" sz="1050" dirty="0">
              <a:latin typeface="Poppins" pitchFamily="2" charset="77"/>
              <a:cs typeface="Poppins" pitchFamily="2" charset="77"/>
            </a:endParaRPr>
          </a:p>
          <a:p>
            <a:pPr>
              <a:lnSpc>
                <a:spcPct val="110000"/>
              </a:lnSpc>
              <a:spcAft>
                <a:spcPts val="800"/>
              </a:spcAft>
            </a:pPr>
            <a:r>
              <a:rPr lang="en-US" sz="1050" dirty="0">
                <a:latin typeface="Poppins" pitchFamily="2" charset="77"/>
                <a:cs typeface="Poppins" pitchFamily="2" charset="77"/>
              </a:rPr>
              <a:t>We estimate the following time will be required, whether undertaken by the Horizon team or Bob’s internal divisions:</a:t>
            </a:r>
          </a:p>
          <a:p>
            <a:pPr marL="171450" indent="-171450">
              <a:lnSpc>
                <a:spcPct val="110000"/>
              </a:lnSpc>
              <a:spcAft>
                <a:spcPts val="800"/>
              </a:spcAft>
              <a:buFont typeface="Arial" panose="020B0604020202020204" pitchFamily="34" charset="0"/>
              <a:buChar char="•"/>
            </a:pPr>
            <a:r>
              <a:rPr lang="en-US" sz="1050" dirty="0">
                <a:solidFill/>
                <a:latin typeface="Poppins" pitchFamily="2" charset="77"/>
                <a:cs typeface="Poppins" pitchFamily="2" charset="77"/>
              </a:rPr>
              <a:t>Agent Requirements &amp; Insights Exploration:  2–3 weeks</a:t>
            </a:r>
          </a:p>
          <a:p>
            <a:pPr marL="171450" indent="-171450">
              <a:lnSpc>
                <a:spcPct val="110000"/>
              </a:lnSpc>
              <a:spcAft>
                <a:spcPts val="800"/>
              </a:spcAft>
              <a:buFont typeface="Arial" panose="020B0604020202020204" pitchFamily="34" charset="0"/>
              <a:buChar char="•"/>
            </a:pPr>
            <a:r>
              <a:rPr lang="en-US" sz="1050" dirty="0">
                <a:solidFill/>
                <a:latin typeface="Poppins" pitchFamily="2" charset="77"/>
                <a:cs typeface="Poppins" pitchFamily="2" charset="77"/>
              </a:rPr>
              <a:t>Engineering of Agent(s):  4–6 weeks</a:t>
            </a:r>
          </a:p>
          <a:p>
            <a:pPr marL="171450" indent="-171450">
              <a:lnSpc>
                <a:spcPct val="110000"/>
              </a:lnSpc>
              <a:spcAft>
                <a:spcPts val="800"/>
              </a:spcAft>
              <a:buFont typeface="Arial" panose="020B0604020202020204" pitchFamily="34" charset="0"/>
              <a:buChar char="•"/>
            </a:pPr>
            <a:r>
              <a:rPr lang="en-US" sz="1050" dirty="0">
                <a:solidFill/>
                <a:latin typeface="Poppins" pitchFamily="2" charset="77"/>
                <a:cs typeface="Poppins" pitchFamily="2" charset="77"/>
              </a:rPr>
              <a:t>Configuration &amp; Documentation of Data Collection:  2–3 weeks (runs in parallel)</a:t>
            </a:r>
          </a:p>
          <a:p>
            <a:pPr marL="171450" indent="-171450">
              <a:lnSpc>
                <a:spcPct val="110000"/>
              </a:lnSpc>
              <a:spcAft>
                <a:spcPts val="800"/>
              </a:spcAft>
              <a:buFont typeface="Arial" panose="020B0604020202020204" pitchFamily="34" charset="0"/>
              <a:buChar char="•"/>
            </a:pPr>
            <a:r>
              <a:rPr lang="en-US" sz="1050" dirty="0" err="1">
                <a:solidFill/>
                <a:latin typeface="Poppins" pitchFamily="2" charset="77"/>
                <a:cs typeface="Poppins" pitchFamily="2" charset="77"/>
              </a:rPr>
              <a:t>PowerBI Dashboard:  2–3 weeks</a:t>
            </a:r>
          </a:p>
          <a:p>
            <a:pPr marL="171450" indent="-171450">
              <a:lnSpc>
                <a:spcPct val="110000"/>
              </a:lnSpc>
              <a:spcAft>
                <a:spcPts val="800"/>
              </a:spcAft>
              <a:buFont typeface="Arial" panose="020B0604020202020204" pitchFamily="34" charset="0"/>
              <a:buChar char="•"/>
            </a:pPr>
            <a:r>
              <a:rPr lang="en-US" sz="1050" dirty="0" err="1">
                <a:solidFill/>
                <a:latin typeface="Poppins" pitchFamily="2" charset="77"/>
                <a:cs typeface="Poppins" pitchFamily="2" charset="77"/>
              </a:rPr>
              <a:t>Total elapsed:  ~8–10 weeks. Horizon-led, with Bob’s data and BI teams participating on database mapping, access, and dashboard design.</a:t>
            </a:r>
          </a:p>
          <a:p>
            <a:pPr marL="171450" indent="-171450">
              <a:lnSpc>
                <a:spcPct val="110000"/>
              </a:lnSpc>
              <a:spcAft>
                <a:spcPts val="800"/>
              </a:spcAft>
              <a:buFont typeface="Arial" panose="020B0604020202020204" pitchFamily="34" charset="0"/>
              <a:buChar char="•"/>
            </a:pPr>
            <a:endParaRPr lang="en-US" sz="1050" dirty="0">
              <a:solidFill>
                <a:srgbClr val="FF0000"/>
              </a:solidFill>
              <a:latin typeface="Poppins" pitchFamily="2" charset="77"/>
              <a:cs typeface="Poppins" pitchFamily="2" charset="77"/>
            </a:endParaRPr>
          </a:p>
          <a:p>
            <a:pPr>
              <a:lnSpc>
                <a:spcPct val="110000"/>
              </a:lnSpc>
              <a:spcAft>
                <a:spcPts val="800"/>
              </a:spcAft>
            </a:pPr>
            <a:r>
              <a:rPr lang="en-US" sz="1050" dirty="0">
                <a:solidFill/>
                <a:latin typeface="Poppins" pitchFamily="2" charset="77"/>
                <a:cs typeface="Poppins" pitchFamily="2" charset="77"/>
              </a:rPr>
              <a:t>Technical requirements for Bob’s include:</a:t>
            </a:r>
          </a:p>
          <a:p>
            <a:pPr marL="171450" indent="-171450">
              <a:lnSpc>
                <a:spcPct val="110000"/>
              </a:lnSpc>
              <a:spcAft>
                <a:spcPts val="800"/>
              </a:spcAft>
              <a:buFont typeface="Arial" panose="020B0604020202020204" pitchFamily="34" charset="0"/>
              <a:buChar char="•"/>
            </a:pPr>
            <a:r>
              <a:rPr lang="en-US" sz="1050" dirty="0" err="1">
                <a:solidFill/>
                <a:latin typeface="Poppins" pitchFamily="2" charset="77"/>
                <a:cs typeface="Poppins" pitchFamily="2" charset="77"/>
              </a:rPr>
              <a:t>Database — a Bob’s-hosted relational database (e.g. SQL Server / Azure SQL / PostgreSQL) in which Horizon provisions the schema; Bob’s retains full ownership of all underlying data.</a:t>
            </a:r>
          </a:p>
          <a:p>
            <a:pPr marL="171450" indent="-171450">
              <a:lnSpc>
                <a:spcPct val="110000"/>
              </a:lnSpc>
              <a:spcAft>
                <a:spcPts val="800"/>
              </a:spcAft>
              <a:buFont typeface="Arial" panose="020B0604020202020204" pitchFamily="34" charset="0"/>
              <a:buChar char="•"/>
            </a:pPr>
            <a:r>
              <a:rPr lang="en-US" sz="1050" dirty="0">
                <a:solidFill/>
                <a:latin typeface="Poppins" pitchFamily="2" charset="77"/>
                <a:cs typeface="Poppins" pitchFamily="2" charset="77"/>
              </a:rPr>
              <a:t>Scheduled compute — a Bob’s-hosted runtime (VM, container, or job scheduler) able to run the Python agent daily, with outbound internet access for data collection and model calls.</a:t>
            </a:r>
          </a:p>
          <a:p>
            <a:pPr marL="171450" indent="-171450">
              <a:lnSpc>
                <a:spcPct val="110000"/>
              </a:lnSpc>
              <a:spcAft>
                <a:spcPts val="800"/>
              </a:spcAft>
              <a:buFont typeface="Arial" panose="020B0604020202020204" pitchFamily="34" charset="0"/>
              <a:buChar char="•"/>
            </a:pPr>
            <a:r>
              <a:rPr lang="en-US" sz="1050" dirty="0" err="1">
                <a:solidFill/>
                <a:latin typeface="Poppins" pitchFamily="2" charset="77"/>
                <a:cs typeface="Poppins" pitchFamily="2" charset="77"/>
              </a:rPr>
              <a:t>Power BI — a workspace plus a dataset/gateway connection to the database for real-time and trended dashboards (Bob’s licenses).</a:t>
            </a:r>
            <a:endParaRPr lang="en-US" sz="1050" dirty="0">
              <a:solidFill>
                <a:srgbClr val="FF0000"/>
              </a:solidFill>
              <a:latin typeface="Poppins" pitchFamily="2" charset="77"/>
              <a:cs typeface="Poppins" pitchFamily="2" charset="77"/>
            </a:endParaRPr>
          </a:p>
          <a:p>
            <a:pPr marL="171450" indent="-171450">
              <a:lnSpc>
                <a:spcPct val="110000"/>
              </a:lnSpc>
              <a:spcAft>
                <a:spcPts val="800"/>
              </a:spcAft>
              <a:buFont typeface="Arial" panose="020B0604020202020204" pitchFamily="34" charset="0"/>
              <a:buChar char="•"/>
            </a:pPr>
            <a:r>
              <a:rPr lang="en-US" sz="1050" dirty="0" err="1">
                <a:solidFill/>
                <a:latin typeface="Poppins" pitchFamily="2" charset="77"/>
                <a:cs typeface="Poppins" pitchFamily="2" charset="77"/>
              </a:rPr>
              <a:t>Model (LLM) API access — an Anthropic Claude API key, or an Azure-hosted equivalent, with an associated inference budget.</a:t>
            </a:r>
            <a:endParaRPr lang="en-US" sz="1050" dirty="0">
              <a:solidFill>
                <a:srgbClr val="FF0000"/>
              </a:solidFill>
              <a:latin typeface="Poppins" pitchFamily="2" charset="77"/>
              <a:cs typeface="Poppins" pitchFamily="2" charset="77"/>
            </a:endParaRPr>
          </a:p>
          <a:p>
            <a:pPr marL="171450" indent="-171450">
              <a:lnSpc>
                <a:spcPct val="110000"/>
              </a:lnSpc>
              <a:spcAft>
                <a:spcPts val="800"/>
              </a:spcAft>
              <a:buFont typeface="Arial" panose="020B0604020202020204" pitchFamily="34" charset="0"/>
              <a:buChar char="•"/>
            </a:pPr>
            <a:r>
              <a:rPr lang="en-US" sz="1050" dirty="0" err="1">
                <a:solidFill/>
                <a:latin typeface="Poppins" pitchFamily="2" charset="77"/>
                <a:cs typeface="Poppins" pitchFamily="2" charset="77"/>
              </a:rPr>
              <a:t>Data-source access — a Meta Ad Library API token (free) and a Google ads-data ingestion key/provider for SA 360 / Search capture.</a:t>
            </a:r>
            <a:endParaRPr lang="en-US" sz="1050" dirty="0">
              <a:solidFill>
                <a:srgbClr val="FF0000"/>
              </a:solidFill>
              <a:latin typeface="Poppins" pitchFamily="2" charset="77"/>
              <a:cs typeface="Poppins" pitchFamily="2" charset="77"/>
            </a:endParaRPr>
          </a:p>
          <a:p>
            <a:pPr marL="171450" indent="-171450">
              <a:lnSpc>
                <a:spcPct val="110000"/>
              </a:lnSpc>
              <a:spcAft>
                <a:spcPts val="800"/>
              </a:spcAft>
              <a:buFont typeface="Arial" panose="020B0604020202020204" pitchFamily="34" charset="0"/>
              <a:buChar char="•"/>
            </a:pPr>
            <a:r>
              <a:rPr lang="en-US" sz="1050" dirty="0" err="1">
                <a:solidFill/>
                <a:latin typeface="Poppins" pitchFamily="2" charset="77"/>
                <a:cs typeface="Poppins" pitchFamily="2" charset="77"/>
              </a:rPr>
              <a:t>Security &amp; governance — secrets storage for credentials, network egress allowance for the listed sources, and data-governance sign-off.</a:t>
            </a:r>
            <a:endParaRPr lang="en-US" sz="1050" dirty="0">
              <a:solidFill>
                <a:srgbClr val="FF0000"/>
              </a:solidFill>
              <a:latin typeface="Poppins" pitchFamily="2" charset="77"/>
              <a:cs typeface="Poppins" pitchFamily="2" charset="77"/>
            </a:endParaRPr>
          </a:p>
          <a:p>
            <a:pPr>
              <a:lnSpc>
                <a:spcPct val="110000"/>
              </a:lnSpc>
              <a:spcAft>
                <a:spcPts val="800"/>
              </a:spcAft>
            </a:pPr>
            <a:endParaRPr lang="en-US" sz="1050" dirty="0">
              <a:latin typeface="Poppins"/>
              <a:cs typeface="Poppins"/>
            </a:endParaRPr>
          </a:p>
          <a:p>
            <a:pPr>
              <a:lnSpc>
                <a:spcPct val="110000"/>
              </a:lnSpc>
              <a:spcAft>
                <a:spcPts val="800"/>
              </a:spcAft>
              <a:buNone/>
            </a:pPr>
            <a:r>
              <a:rPr lang="en-US" sz="1050" b="1" dirty="0">
                <a:solidFill>
                  <a:schemeClr val="accent1"/>
                </a:solidFill>
                <a:latin typeface="Poppins SemiBold" pitchFamily="2" charset="77"/>
                <a:cs typeface="Poppins SemiBold" pitchFamily="2" charset="77"/>
              </a:rPr>
              <a:t>Estimated Costs</a:t>
            </a:r>
            <a:endParaRPr lang="en-US" sz="1050" dirty="0">
              <a:latin typeface="Poppins" pitchFamily="2" charset="77"/>
              <a:cs typeface="Poppins" pitchFamily="2" charset="77"/>
            </a:endParaRPr>
          </a:p>
          <a:p>
            <a:pPr>
              <a:lnSpc>
                <a:spcPct val="110000"/>
              </a:lnSpc>
              <a:spcAft>
                <a:spcPts val="800"/>
              </a:spcAft>
            </a:pPr>
            <a:r>
              <a:rPr lang="en-US" sz="1050" dirty="0">
                <a:latin typeface="Poppins"/>
                <a:cs typeface="Poppins"/>
              </a:rPr>
              <a:t>Based on our current prototype, we estimate the following costs:</a:t>
            </a:r>
          </a:p>
          <a:p>
            <a:pPr marL="171450" indent="-171450">
              <a:lnSpc>
                <a:spcPct val="110000"/>
              </a:lnSpc>
              <a:spcAft>
                <a:spcPts val="800"/>
              </a:spcAft>
              <a:buFont typeface="Arial" panose="020B0604020202020204" pitchFamily="34" charset="0"/>
              <a:buChar char="•"/>
            </a:pPr>
            <a:r>
              <a:rPr lang="en-US" sz="1050" dirty="0">
                <a:solidFill/>
                <a:latin typeface="Poppins"/>
                <a:cs typeface="Poppins"/>
              </a:rPr>
              <a:t>Horizon Scope:  $50,000 one-time project fee — build, configuration, documentation, and Power BI deployment within Bob’s environment.</a:t>
            </a:r>
          </a:p>
          <a:p>
            <a:pPr marL="171450" indent="-171450">
              <a:lnSpc>
                <a:spcPct val="110000"/>
              </a:lnSpc>
              <a:spcAft>
                <a:spcPts val="800"/>
              </a:spcAft>
              <a:buFont typeface="Arial" panose="020B0604020202020204" pitchFamily="34" charset="0"/>
              <a:buChar char="•"/>
            </a:pPr>
            <a:r>
              <a:rPr lang="en-US" sz="1050" dirty="0">
                <a:solidFill/>
                <a:latin typeface="Poppins"/>
                <a:cs typeface="Poppins"/>
              </a:rPr>
              <a:t>AI Infrastructure:  variable monthly run-cost, typically $150–$550 / month — Claude model inference (~$50–$150/mo at a daily cadence for ~10 competitors) plus Google ads-data ingestion (~$100–$400/mo by plan and volume). Meta Ad Library access is free; Bob’s-side compute and storage are absorbed by Bob’s.</a:t>
            </a:r>
          </a:p>
          <a:p>
            <a:pPr marL="171450" indent="-171450">
              <a:lnSpc>
                <a:spcPct val="110000"/>
              </a:lnSpc>
              <a:spcAft>
                <a:spcPts val="800"/>
              </a:spcAft>
              <a:buFont typeface="Arial" panose="020B0604020202020204" pitchFamily="34" charset="0"/>
              <a:buChar char="•"/>
            </a:pPr>
            <a:r>
              <a:rPr lang="en-US" sz="1050" dirty="0">
                <a:solidFill/>
                <a:latin typeface="Poppins"/>
                <a:cs typeface="Poppins"/>
              </a:rPr>
              <a:t>Ongoing Horizon engagement — select a tier (illustrative; confirmed at scoping):</a:t>
            </a:r>
          </a:p>
          <a:p>
            <a:pPr marL="171450" indent="-171450">
              <a:lnSpc>
                <a:spcPct val="110000"/>
              </a:lnSpc>
              <a:spcAft>
                <a:spcPts val="800"/>
              </a:spcAft>
              <a:buFont typeface="Arial" panose="020B0604020202020204" pitchFamily="34" charset="0"/>
              <a:buChar char="•"/>
            </a:pPr>
            <a:r>
              <a:rPr lang="en-US" sz="1050" dirty="0">
                <a:solidFill/>
                <a:latin typeface="Poppins"/>
                <a:cs typeface="Poppins"/>
              </a:rPr>
              <a:t>Maintain &amp; Monitor — $3,500 / mo: keep the pipeline healthy (source/selector fixes, monitoring, monthly data-quality check).</a:t>
            </a:r>
          </a:p>
          <a:p>
            <a:pPr marL="171450" indent="-171450">
              <a:lnSpc>
                <a:spcPct val="110000"/>
              </a:lnSpc>
              <a:spcAft>
                <a:spcPts val="800"/>
              </a:spcAft>
              <a:buFont typeface="Arial" panose="020B0604020202020204" pitchFamily="34" charset="0"/>
              <a:buChar char="•"/>
            </a:pPr>
            <a:r>
              <a:rPr lang="en-US" sz="1050" dirty="0">
                <a:solidFill/>
                <a:latin typeface="Poppins"/>
                <a:cs typeface="Poppins"/>
              </a:rPr>
              <a:t>Enhance (recommended) — $7,500 / mo: the above, plus new attributes and competitors, dashboard iteration, alert tuning, and quarterly updates to Horizon’s creative-analytics framework.</a:t>
            </a:r>
          </a:p>
          <a:p>
            <a:pPr marL="171450" indent="-171450">
              <a:lnSpc>
                <a:spcPct val="110000"/>
              </a:lnSpc>
              <a:spcAft>
                <a:spcPts val="800"/>
              </a:spcAft>
              <a:buFont typeface="Arial" panose="020B0604020202020204" pitchFamily="34" charset="0"/>
              <a:buChar char="•"/>
            </a:pPr>
            <a:r>
              <a:rPr lang="en-US" sz="1050" dirty="0">
                <a:solidFill/>
                <a:latin typeface="Poppins"/>
                <a:cs typeface="Poppins"/>
              </a:rPr>
              <a:t>Strategic Partner — $12,500 / mo: the above, plus conversational-agent expansion, dedicated analyst support, and integration into demand forecasting / media-mix modelling.</a:t>
            </a:r>
          </a:p>
          <a:p>
            <a:pPr>
              <a:lnSpc>
                <a:spcPct val="110000"/>
              </a:lnSpc>
              <a:spcAft>
                <a:spcPts val="800"/>
              </a:spcAft>
            </a:pPr>
            <a:r>
              <a:rPr lang="en-US" sz="1050" dirty="0">
                <a:latin typeface="Poppins"/>
                <a:cs typeface="Poppins"/>
              </a:rPr>
              <a:t>This does not include any increase in data-storage-related costs, to be absorbed by Bob’s.  </a:t>
            </a:r>
            <a:r>
              <a:rPr lang="en-US" sz="1050" dirty="0">
                <a:solidFill/>
                <a:latin typeface="Poppins"/>
                <a:cs typeface="Poppins"/>
              </a:rPr>
              <a:t>The current prototype already holds ~3,500 structured rows across 8 brands — 1,948 ad records and 1,263 vision-analyzed creatives (each tagged with 20+ attributes: offers, CTAs, RTBs, value props, product-vs-lifestyle imagery, casting, color, urgency cues and seasonality), plus on-site offers, homepage observations and synthesized briefings — alongside ~210 MB of stored creative assets. At a ~10-competitor daily cadence, expect roughly 3,000–4,000 new rows and 30–50 MB of new assets per month.</a:t>
            </a:r>
            <a:endParaRPr lang="en-US" sz="1050" dirty="0">
              <a:solidFill>
                <a:srgbClr val="FF0000"/>
              </a:solidFill>
              <a:latin typeface="Poppins" pitchFamily="2" charset="77"/>
              <a:cs typeface="Poppins" pitchFamily="2" charset="77"/>
            </a:endParaRPr>
          </a:p>
          <a:p>
            <a:pPr>
              <a:lnSpc>
                <a:spcPct val="110000"/>
              </a:lnSpc>
              <a:spcAft>
                <a:spcPts val="800"/>
              </a:spcAft>
            </a:pPr>
            <a:endParaRPr lang="en-US" sz="1050" dirty="0">
              <a:latin typeface="Poppins"/>
              <a:cs typeface="Poppins"/>
            </a:endParaRPr>
          </a:p>
        </p:txBody>
      </p:sp>
      <p:sp>
        <p:nvSpPr>
          <p:cNvPr id="2" name="Slide Number Placeholder 5">
            <a:extLst>
              <a:ext uri="{FF2B5EF4-FFF2-40B4-BE49-F238E27FC236}">
                <a16:creationId xmlns:a16="http://schemas.microsoft.com/office/drawing/2014/main" id="{A4F40332-F0DC-F1CD-9FC8-25A3747C379C}"/>
              </a:ext>
            </a:extLst>
          </p:cNvPr>
          <p:cNvSpPr txBox="1">
            <a:spLocks/>
          </p:cNvSpPr>
          <p:nvPr/>
        </p:nvSpPr>
        <p:spPr>
          <a:xfrm>
            <a:off x="5710438" y="186966"/>
            <a:ext cx="1748790" cy="249823"/>
          </a:xfrm>
          <a:prstGeom prst="rect">
            <a:avLst/>
          </a:prstGeom>
        </p:spPr>
        <p:txBody>
          <a:bodyPr vert="horz" lIns="91440" tIns="45720" rIns="91440" bIns="45720" rtlCol="0" anchor="ctr"/>
          <a:lstStyle>
            <a:defPPr>
              <a:defRPr lang="en-US"/>
            </a:defPPr>
            <a:lvl1pPr marL="0" algn="r" defTabSz="914400" rtl="0" eaLnBrk="1" latinLnBrk="0" hangingPunct="1">
              <a:defRPr sz="600" kern="1200">
                <a:solidFill>
                  <a:schemeClr val="tx1"/>
                </a:solidFill>
                <a:latin typeface="Avenir Next LT Pro"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Poppins" panose="00000500000000000000" pitchFamily="2" charset="0"/>
                <a:cs typeface="Poppins" panose="00000500000000000000" pitchFamily="2" charset="0"/>
              </a:rPr>
              <a:t>Horizon  |  </a:t>
            </a:r>
            <a:fld id="{420EFE5E-B2EA-459C-B3ED-8417E0118FA7}" type="slidenum">
              <a:rPr lang="en-US" smtClean="0">
                <a:latin typeface="Poppins" panose="00000500000000000000" pitchFamily="2" charset="0"/>
                <a:cs typeface="Poppins" panose="00000500000000000000" pitchFamily="2" charset="0"/>
              </a:rPr>
              <a:pPr/>
              <a:t>2</a:t>
            </a:fld>
            <a:endParaRPr lang="en-US">
              <a:latin typeface="Poppins" panose="00000500000000000000" pitchFamily="2" charset="0"/>
              <a:cs typeface="Poppins" panose="00000500000000000000" pitchFamily="2" charset="0"/>
            </a:endParaRPr>
          </a:p>
        </p:txBody>
      </p:sp>
      <p:cxnSp>
        <p:nvCxnSpPr>
          <p:cNvPr id="9" name="Straight Connector 8">
            <a:extLst>
              <a:ext uri="{FF2B5EF4-FFF2-40B4-BE49-F238E27FC236}">
                <a16:creationId xmlns:a16="http://schemas.microsoft.com/office/drawing/2014/main" id="{6091E11B-D81A-A271-7D89-352C9D200A26}"/>
              </a:ext>
            </a:extLst>
          </p:cNvPr>
          <p:cNvCxnSpPr>
            <a:cxnSpLocks/>
          </p:cNvCxnSpPr>
          <p:nvPr/>
        </p:nvCxnSpPr>
        <p:spPr>
          <a:xfrm>
            <a:off x="457200" y="968702"/>
            <a:ext cx="6858000" cy="0"/>
          </a:xfrm>
          <a:prstGeom prst="line">
            <a:avLst/>
          </a:prstGeom>
          <a:noFill/>
          <a:ln w="19050" cap="rnd" cmpd="sng" algn="ctr">
            <a:solidFill>
              <a:schemeClr val="accent1"/>
            </a:solidFill>
            <a:prstDash val="solid"/>
            <a:round/>
          </a:ln>
          <a:effectLst/>
        </p:spPr>
      </p:cxnSp>
      <p:sp>
        <p:nvSpPr>
          <p:cNvPr id="5" name="Content Placeholder 4">
            <a:extLst>
              <a:ext uri="{FF2B5EF4-FFF2-40B4-BE49-F238E27FC236}">
                <a16:creationId xmlns:a16="http://schemas.microsoft.com/office/drawing/2014/main" id="{23B445D7-865B-DC80-7262-A5E1A2190EBF}"/>
              </a:ext>
            </a:extLst>
          </p:cNvPr>
          <p:cNvSpPr>
            <a:spLocks noGrp="1"/>
          </p:cNvSpPr>
          <p:nvPr>
            <p:ph sz="quarter" idx="11"/>
          </p:nvPr>
        </p:nvSpPr>
        <p:spPr>
          <a:xfrm>
            <a:off x="457200" y="594678"/>
            <a:ext cx="6858000" cy="340478"/>
          </a:xfrm>
        </p:spPr>
        <p:txBody>
          <a:bodyPr/>
          <a:lstStyle/>
          <a:p>
            <a:r>
              <a:rPr lang="en-US"/>
              <a:t>THE APPROACH</a:t>
            </a:r>
          </a:p>
        </p:txBody>
      </p:sp>
    </p:spTree>
    <p:extLst>
      <p:ext uri="{BB962C8B-B14F-4D97-AF65-F5344CB8AC3E}">
        <p14:creationId xmlns:p14="http://schemas.microsoft.com/office/powerpoint/2010/main" val="3460495718"/>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7F555-6FC0-1DEB-7B41-87165C9AABE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A742A57-C52D-C8FC-1493-F279BF50FCD5}"/>
              </a:ext>
            </a:extLst>
          </p:cNvPr>
          <p:cNvSpPr txBox="1"/>
          <p:nvPr/>
        </p:nvSpPr>
        <p:spPr>
          <a:xfrm>
            <a:off x="457200" y="1093045"/>
            <a:ext cx="6858000" cy="8131331"/>
          </a:xfrm>
          <a:prstGeom prst="rect">
            <a:avLst/>
          </a:prstGeom>
          <a:noFill/>
        </p:spPr>
        <p:txBody>
          <a:bodyPr wrap="square" lIns="91440" tIns="91440" rIns="91440" bIns="91440" numCol="1" spcCol="365760" anchor="t">
            <a:noAutofit/>
          </a:bodyPr>
          <a:lstStyle/>
          <a:p>
            <a:pPr>
              <a:spcBef>
                <a:spcPts val="600"/>
              </a:spcBef>
              <a:buClr>
                <a:srgbClr val="18ADD3"/>
              </a:buClr>
              <a:defRPr/>
            </a:pPr>
            <a:endParaRPr lang="en-US" sz="1050"/>
          </a:p>
          <a:p>
            <a:pPr>
              <a:spcBef>
                <a:spcPts val="600"/>
              </a:spcBef>
              <a:buClr>
                <a:srgbClr val="18ADD3"/>
              </a:buClr>
              <a:defRPr/>
            </a:pPr>
            <a:endParaRPr lang="en-US" sz="1050"/>
          </a:p>
          <a:p>
            <a:pPr>
              <a:spcBef>
                <a:spcPts val="600"/>
              </a:spcBef>
              <a:buClr>
                <a:srgbClr val="18ADD3"/>
              </a:buClr>
              <a:defRPr/>
            </a:pPr>
            <a:endParaRPr lang="en-US" sz="1050"/>
          </a:p>
          <a:p>
            <a:pPr>
              <a:spcBef>
                <a:spcPts val="600"/>
              </a:spcBef>
              <a:buClr>
                <a:srgbClr val="18ADD3"/>
              </a:buClr>
              <a:defRPr/>
            </a:pPr>
            <a:endParaRPr lang="en-US" sz="1050"/>
          </a:p>
          <a:p>
            <a:pPr>
              <a:spcBef>
                <a:spcPts val="600"/>
              </a:spcBef>
              <a:buClr>
                <a:srgbClr val="18ADD3"/>
              </a:buClr>
              <a:defRPr/>
            </a:pPr>
            <a:endParaRPr lang="en-US" sz="1050"/>
          </a:p>
          <a:p>
            <a:pPr>
              <a:spcBef>
                <a:spcPts val="600"/>
              </a:spcBef>
              <a:buClr>
                <a:srgbClr val="18ADD3"/>
              </a:buClr>
              <a:defRPr/>
            </a:pPr>
            <a:endParaRPr lang="en-US" sz="1050"/>
          </a:p>
          <a:p>
            <a:pPr>
              <a:lnSpc>
                <a:spcPct val="110000"/>
              </a:lnSpc>
              <a:spcAft>
                <a:spcPts val="800"/>
              </a:spcAft>
              <a:buNone/>
            </a:pPr>
            <a:r>
              <a:rPr lang="en-US" sz="1050" b="1">
                <a:solidFill>
                  <a:schemeClr val="accent1"/>
                </a:solidFill>
                <a:latin typeface="Poppins SemiBold" pitchFamily="2" charset="77"/>
                <a:cs typeface="Poppins SemiBold" pitchFamily="2" charset="77"/>
              </a:rPr>
              <a:t>Sample Agent Analysis</a:t>
            </a:r>
            <a:endParaRPr lang="en-US" sz="1050">
              <a:latin typeface="Poppins" pitchFamily="2" charset="77"/>
              <a:cs typeface="Poppins" pitchFamily="2" charset="77"/>
            </a:endParaRPr>
          </a:p>
          <a:p>
            <a:pPr>
              <a:lnSpc>
                <a:spcPct val="110000"/>
              </a:lnSpc>
              <a:spcAft>
                <a:spcPts val="800"/>
              </a:spcAft>
            </a:pPr>
            <a:r>
              <a:rPr lang="en-US" sz="1050">
                <a:latin typeface="Poppins"/>
                <a:cs typeface="Poppins"/>
              </a:rPr>
              <a:t>The following are examples from our prototype, to be customized to your needs upon engagement:</a:t>
            </a:r>
            <a:endParaRPr lang="en-US" sz="1050">
              <a:latin typeface="Poppins" pitchFamily="2" charset="77"/>
              <a:cs typeface="Poppins" pitchFamily="2" charset="77"/>
            </a:endParaRPr>
          </a:p>
          <a:p>
            <a:pPr>
              <a:spcBef>
                <a:spcPts val="600"/>
              </a:spcBef>
              <a:buClr>
                <a:srgbClr val="18ADD3"/>
              </a:buClr>
              <a:defRPr/>
            </a:pPr>
            <a:endParaRPr lang="en-US" sz="1050"/>
          </a:p>
        </p:txBody>
      </p:sp>
      <p:sp>
        <p:nvSpPr>
          <p:cNvPr id="2" name="Slide Number Placeholder 5">
            <a:extLst>
              <a:ext uri="{FF2B5EF4-FFF2-40B4-BE49-F238E27FC236}">
                <a16:creationId xmlns:a16="http://schemas.microsoft.com/office/drawing/2014/main" id="{21A97CA7-3CB7-040A-FEC7-85997E175AFE}"/>
              </a:ext>
            </a:extLst>
          </p:cNvPr>
          <p:cNvSpPr txBox="1">
            <a:spLocks/>
          </p:cNvSpPr>
          <p:nvPr/>
        </p:nvSpPr>
        <p:spPr>
          <a:xfrm>
            <a:off x="5710438" y="186966"/>
            <a:ext cx="1748790" cy="249823"/>
          </a:xfrm>
          <a:prstGeom prst="rect">
            <a:avLst/>
          </a:prstGeom>
        </p:spPr>
        <p:txBody>
          <a:bodyPr vert="horz" lIns="91440" tIns="45720" rIns="91440" bIns="45720" rtlCol="0" anchor="ctr"/>
          <a:lstStyle>
            <a:defPPr>
              <a:defRPr lang="en-US"/>
            </a:defPPr>
            <a:lvl1pPr marL="0" algn="r" defTabSz="914400" rtl="0" eaLnBrk="1" latinLnBrk="0" hangingPunct="1">
              <a:defRPr sz="600" kern="1200">
                <a:solidFill>
                  <a:schemeClr val="tx1"/>
                </a:solidFill>
                <a:latin typeface="Avenir Next LT Pro"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Poppins" panose="00000500000000000000" pitchFamily="2" charset="0"/>
                <a:cs typeface="Poppins" panose="00000500000000000000" pitchFamily="2" charset="0"/>
              </a:rPr>
              <a:t>Horizon  |  </a:t>
            </a:r>
            <a:fld id="{420EFE5E-B2EA-459C-B3ED-8417E0118FA7}" type="slidenum">
              <a:rPr lang="en-US" smtClean="0">
                <a:latin typeface="Poppins" panose="00000500000000000000" pitchFamily="2" charset="0"/>
                <a:cs typeface="Poppins" panose="00000500000000000000" pitchFamily="2" charset="0"/>
              </a:rPr>
              <a:pPr/>
              <a:t>3</a:t>
            </a:fld>
            <a:endParaRPr lang="en-US">
              <a:latin typeface="Poppins" panose="00000500000000000000" pitchFamily="2" charset="0"/>
              <a:cs typeface="Poppins" panose="00000500000000000000" pitchFamily="2" charset="0"/>
            </a:endParaRPr>
          </a:p>
        </p:txBody>
      </p:sp>
      <p:cxnSp>
        <p:nvCxnSpPr>
          <p:cNvPr id="3" name="Straight Connector 2">
            <a:extLst>
              <a:ext uri="{FF2B5EF4-FFF2-40B4-BE49-F238E27FC236}">
                <a16:creationId xmlns:a16="http://schemas.microsoft.com/office/drawing/2014/main" id="{3BD85A13-15F0-1EBE-DCA6-5045422330CD}"/>
              </a:ext>
            </a:extLst>
          </p:cNvPr>
          <p:cNvCxnSpPr>
            <a:cxnSpLocks/>
          </p:cNvCxnSpPr>
          <p:nvPr/>
        </p:nvCxnSpPr>
        <p:spPr>
          <a:xfrm>
            <a:off x="457200" y="968702"/>
            <a:ext cx="6858000" cy="0"/>
          </a:xfrm>
          <a:prstGeom prst="line">
            <a:avLst/>
          </a:prstGeom>
          <a:noFill/>
          <a:ln w="19050" cap="rnd" cmpd="sng" algn="ctr">
            <a:solidFill>
              <a:schemeClr val="accent1"/>
            </a:solidFill>
            <a:prstDash val="solid"/>
            <a:round/>
          </a:ln>
          <a:effectLst/>
        </p:spPr>
      </p:cxnSp>
      <p:sp>
        <p:nvSpPr>
          <p:cNvPr id="4" name="Content Placeholder 3">
            <a:extLst>
              <a:ext uri="{FF2B5EF4-FFF2-40B4-BE49-F238E27FC236}">
                <a16:creationId xmlns:a16="http://schemas.microsoft.com/office/drawing/2014/main" id="{6E1A7BDD-5118-4B1C-0311-C6904C2B0EBE}"/>
              </a:ext>
            </a:extLst>
          </p:cNvPr>
          <p:cNvSpPr>
            <a:spLocks noGrp="1"/>
          </p:cNvSpPr>
          <p:nvPr>
            <p:ph sz="quarter" idx="11"/>
          </p:nvPr>
        </p:nvSpPr>
        <p:spPr>
          <a:xfrm>
            <a:off x="457200" y="594678"/>
            <a:ext cx="6858000" cy="340478"/>
          </a:xfrm>
        </p:spPr>
        <p:txBody>
          <a:bodyPr/>
          <a:lstStyle/>
          <a:p>
            <a:r>
              <a:rPr lang="en-US"/>
              <a:t>THE OUTPUT</a:t>
            </a:r>
          </a:p>
        </p:txBody>
      </p:sp>
      <p:sp>
        <p:nvSpPr>
          <p:cNvPr id="5" name="TextBox 4">
            <a:extLst>
              <a:ext uri="{FF2B5EF4-FFF2-40B4-BE49-F238E27FC236}">
                <a16:creationId xmlns:a16="http://schemas.microsoft.com/office/drawing/2014/main" id="{107DE8CC-0089-796B-BEAC-DB2AB7025F27}"/>
              </a:ext>
            </a:extLst>
          </p:cNvPr>
          <p:cNvSpPr txBox="1"/>
          <p:nvPr/>
        </p:nvSpPr>
        <p:spPr>
          <a:xfrm>
            <a:off x="457201" y="1216022"/>
            <a:ext cx="6857999" cy="611193"/>
          </a:xfrm>
          <a:prstGeom prst="rect">
            <a:avLst/>
          </a:prstGeom>
          <a:solidFill>
            <a:schemeClr val="bg1">
              <a:lumMod val="95000"/>
            </a:schemeClr>
          </a:solidFill>
        </p:spPr>
        <p:txBody>
          <a:bodyPr wrap="square" lIns="91440" tIns="45720" rIns="91440" bIns="45720" anchor="t">
            <a:spAutoFit/>
          </a:bodyPr>
          <a:lstStyle/>
          <a:p>
            <a:pPr>
              <a:lnSpc>
                <a:spcPct val="110000"/>
              </a:lnSpc>
              <a:spcBef>
                <a:spcPts val="1000"/>
              </a:spcBef>
              <a:spcAft>
                <a:spcPts val="800"/>
              </a:spcAft>
            </a:pPr>
            <a:r>
              <a:rPr lang="en-US" sz="1050" b="1">
                <a:solidFill>
                  <a:schemeClr val="accent1"/>
                </a:solidFill>
                <a:latin typeface="Poppins SemiBold" pitchFamily="2" charset="77"/>
                <a:cs typeface="Poppins SemiBold" pitchFamily="2" charset="77"/>
              </a:rPr>
              <a:t>Key Activities &amp; Deliverables</a:t>
            </a:r>
          </a:p>
          <a:p>
            <a:pPr marL="172720" indent="-172720">
              <a:spcBef>
                <a:spcPts val="600"/>
              </a:spcBef>
              <a:buClr>
                <a:srgbClr val="18ADD3"/>
              </a:buClr>
              <a:buFont typeface="Arial" panose="020B0604020202020204" pitchFamily="34" charset="0"/>
              <a:buChar char="•"/>
              <a:defRPr/>
            </a:pPr>
            <a:r>
              <a:rPr lang="en-GB" altLang="en-US" sz="1050" err="1">
                <a:solidFill/>
                <a:latin typeface="Poppins" pitchFamily="2" charset="77"/>
                <a:cs typeface="Poppins" pitchFamily="2" charset="77"/>
              </a:rPr>
              <a:t>Deployed agent on a daily schedule inside Bob’s environment, collecting Meta, Google (SA 360) and on-site creative for Bob’s and ~10 competitors.</a:t>
            </a:r>
            <a:endParaRPr lang="en-GB" altLang="en-US" sz="1050">
              <a:solidFill>
                <a:srgbClr val="000000"/>
              </a:solidFill>
              <a:latin typeface="Poppins" panose="00000500000000000000" pitchFamily="2" charset="0"/>
              <a:cs typeface="Poppins" panose="00000500000000000000" pitchFamily="2" charset="0"/>
            </a:endParaRPr>
          </a:p>
          <a:p>
            <a:pPr marL="172720" indent="-172720">
              <a:spcBef>
                <a:spcPts val="600"/>
              </a:spcBef>
              <a:buClr>
                <a:srgbClr val="18ADD3"/>
              </a:buClr>
              <a:buFont typeface="Arial" panose="020B0604020202020204" pitchFamily="34" charset="0"/>
              <a:buChar char="•"/>
              <a:defRPr/>
            </a:pPr>
            <a:r>
              <a:rPr lang="en-GB" altLang="en-US" sz="1050" err="1">
                <a:solidFill/>
                <a:latin typeface="Poppins" pitchFamily="2" charset="77"/>
                <a:cs typeface="Poppins" pitchFamily="2" charset="77"/>
              </a:rPr>
              <a:t>A governed, documented database (schema, data dictionary, refresh logic) owned by Bob’s and join-ready with other BI tables.</a:t>
            </a:r>
            <a:endParaRPr lang="en-GB" altLang="en-US" sz="1050">
              <a:solidFill>
                <a:srgbClr val="000000"/>
              </a:solidFill>
              <a:latin typeface="Poppins" panose="00000500000000000000" pitchFamily="2" charset="0"/>
              <a:cs typeface="Poppins" panose="00000500000000000000" pitchFamily="2" charset="0"/>
            </a:endParaRPr>
          </a:p>
          <a:p>
            <a:pPr marL="172720" indent="-172720">
              <a:spcBef>
                <a:spcPts val="600"/>
              </a:spcBef>
              <a:buClr>
                <a:srgbClr val="18ADD3"/>
              </a:buClr>
              <a:buFont typeface="Arial" panose="020B0604020202020204" pitchFamily="34" charset="0"/>
              <a:buChar char="•"/>
              <a:defRPr/>
            </a:pPr>
            <a:r>
              <a:rPr lang="en-GB" altLang="en-US" sz="1050" err="1">
                <a:solidFill/>
                <a:latin typeface="Poppins" pitchFamily="2" charset="77"/>
                <a:cs typeface="Poppins" pitchFamily="2" charset="77"/>
              </a:rPr>
              <a:t>Creative-analytics tagging engine: 20+ structured attributes per creative — offers, CTAs, RTBs, value props, imagery style, casting, color, urgency and seasonality.</a:t>
            </a:r>
            <a:endParaRPr lang="en-GB" altLang="en-US" sz="1050">
              <a:solidFill>
                <a:srgbClr val="000000"/>
              </a:solidFill>
              <a:latin typeface="Poppins" panose="00000500000000000000" pitchFamily="2" charset="0"/>
              <a:cs typeface="Poppins" panose="00000500000000000000" pitchFamily="2" charset="0"/>
            </a:endParaRPr>
          </a:p>
          <a:p>
            <a:pPr marL="172720" indent="-172720">
              <a:spcBef>
                <a:spcPts val="600"/>
              </a:spcBef>
              <a:buClr>
                <a:srgbClr val="18ADD3"/>
              </a:buClr>
              <a:buFont typeface="Arial" panose="020B0604020202020204" pitchFamily="34" charset="0"/>
              <a:buChar char="•"/>
              <a:defRPr/>
            </a:pPr>
            <a:r>
              <a:rPr lang="en-GB" altLang="en-US" sz="1050" err="1">
                <a:solidFill/>
                <a:latin typeface="Poppins" pitchFamily="2" charset="77"/>
                <a:cs typeface="Poppins" pitchFamily="2" charset="77"/>
              </a:rPr>
              <a:t>Scheduled analysis reports against Horizon’s creative best-practice framework, with whitespace and outlier/alert detection.</a:t>
            </a:r>
            <a:endParaRPr lang="en-GB" altLang="en-US" sz="1050">
              <a:solidFill>
                <a:srgbClr val="000000"/>
              </a:solidFill>
              <a:latin typeface="Poppins" panose="00000500000000000000" pitchFamily="2" charset="0"/>
              <a:cs typeface="Poppins" panose="00000500000000000000" pitchFamily="2" charset="0"/>
            </a:endParaRPr>
          </a:p>
          <a:p>
            <a:pPr marL="172720" indent="-172720">
              <a:spcBef>
                <a:spcPts val="600"/>
              </a:spcBef>
              <a:buClr>
                <a:srgbClr val="18ADD3"/>
              </a:buClr>
              <a:buFont typeface="Arial" panose="020B0604020202020204" pitchFamily="34" charset="0"/>
              <a:buChar char="•"/>
              <a:defRPr/>
            </a:pPr>
            <a:r>
              <a:rPr lang="en-GB" altLang="en-US" sz="1050" err="1">
                <a:solidFill/>
                <a:latin typeface="Poppins" pitchFamily="2" charset="77"/>
                <a:cs typeface="Poppins" pitchFamily="2" charset="77"/>
              </a:rPr>
              <a:t>A Power BI dashboard suite: real-time and trended views of competitor messaging and merchandising vs. Bob’s.</a:t>
            </a:r>
            <a:endParaRPr lang="en-GB" altLang="en-US" sz="1050">
              <a:solidFill>
                <a:srgbClr val="000000"/>
              </a:solidFill>
              <a:latin typeface="Poppins" panose="00000500000000000000" pitchFamily="2" charset="0"/>
              <a:cs typeface="Poppins" panose="00000500000000000000" pitchFamily="2" charset="0"/>
            </a:endParaRPr>
          </a:p>
          <a:p>
            <a:pPr marL="172720" indent="-172720">
              <a:spcBef>
                <a:spcPts val="600"/>
              </a:spcBef>
              <a:buClr>
                <a:srgbClr val="18ADD3"/>
              </a:buClr>
              <a:buFont typeface="Arial" panose="020B0604020202020204" pitchFamily="34" charset="0"/>
              <a:buChar char="•"/>
              <a:defRPr/>
            </a:pPr>
            <a:r>
              <a:rPr lang="en-GB" altLang="en-US" sz="1050" err="1">
                <a:solidFill/>
                <a:latin typeface="Poppins" pitchFamily="2" charset="77"/>
                <a:cs typeface="Poppins" pitchFamily="2" charset="77"/>
              </a:rPr>
              <a:t>An optional conversational agent to query the compiled dataset in natural language.</a:t>
            </a:r>
            <a:endParaRPr lang="en-GB" altLang="en-US" sz="1050">
              <a:solidFill>
                <a:srgbClr val="000000"/>
              </a:solidFill>
              <a:latin typeface="Poppins" panose="00000500000000000000" pitchFamily="2" charset="0"/>
              <a:cs typeface="Poppins" panose="00000500000000000000" pitchFamily="2" charset="0"/>
            </a:endParaRPr>
          </a:p>
          <a:p>
            <a:pPr marL="172720" indent="-172720">
              <a:spcBef>
                <a:spcPts val="600"/>
              </a:spcBef>
              <a:buClr>
                <a:srgbClr val="18ADD3"/>
              </a:buClr>
              <a:buFont typeface="Arial" panose="020B0604020202020204" pitchFamily="34" charset="0"/>
              <a:buChar char="•"/>
              <a:defRPr/>
            </a:pPr>
            <a:r>
              <a:rPr lang="en-GB" altLang="en-US" sz="1050" err="1">
                <a:solidFill/>
                <a:latin typeface="Poppins" pitchFamily="2" charset="77"/>
                <a:cs typeface="Poppins" pitchFamily="2" charset="77"/>
              </a:rPr>
              <a:t>Documentation, runbooks, and a working session to hand day-to-day operation to Bob’s team.</a:t>
            </a:r>
            <a:endParaRPr lang="en-GB" altLang="en-US" sz="1050">
              <a:solidFill>
                <a:srgbClr val="000000"/>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519574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509ED-A91C-9A0C-E689-4FE1C1F03F79}"/>
            </a:ext>
          </a:extLst>
        </p:cNvPr>
        <p:cNvGrpSpPr/>
        <p:nvPr/>
      </p:nvGrpSpPr>
      <p:grpSpPr>
        <a:xfrm>
          <a:off x="0" y="0"/>
          <a:ext cx="0" cy="0"/>
          <a:chOff x="0" y="0"/>
          <a:chExt cx="0" cy="0"/>
        </a:xfrm>
      </p:grpSpPr>
      <p:pic>
        <p:nvPicPr>
          <p:cNvPr id="7" name="Picture 4">
            <a:extLst>
              <a:ext uri="{FF2B5EF4-FFF2-40B4-BE49-F238E27FC236}">
                <a16:creationId xmlns:a16="http://schemas.microsoft.com/office/drawing/2014/main" id="{CE424303-7A4A-62BA-6AFB-38416D572F0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7570" r="17570" b="18480"/>
          <a:stretch>
            <a:fillRect/>
          </a:stretch>
        </p:blipFill>
        <p:spPr bwMode="auto">
          <a:xfrm>
            <a:off x="0" y="1"/>
            <a:ext cx="7772400" cy="452283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CE33B4CB-C480-54BE-7191-FAF8FAE34C24}"/>
              </a:ext>
            </a:extLst>
          </p:cNvPr>
          <p:cNvSpPr txBox="1"/>
          <p:nvPr/>
        </p:nvSpPr>
        <p:spPr>
          <a:xfrm>
            <a:off x="2326640" y="10160"/>
            <a:ext cx="184731" cy="276871"/>
          </a:xfrm>
          <a:prstGeom prst="rect">
            <a:avLst/>
          </a:prstGeom>
          <a:solidFill>
            <a:srgbClr val="0B0732"/>
          </a:solidFill>
        </p:spPr>
        <p:txBody>
          <a:bodyPr wrap="none" rtlCol="0">
            <a:spAutoFit/>
          </a:bodyPr>
          <a:lstStyle/>
          <a:p>
            <a:pPr algn="l">
              <a:lnSpc>
                <a:spcPct val="112000"/>
              </a:lnSpc>
              <a:spcBef>
                <a:spcPts val="1200"/>
              </a:spcBef>
            </a:pPr>
            <a:endParaRPr lang="en-US" sz="1100">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66B9EAD5-BA26-2EC0-A9A2-E482D48B97EC}"/>
              </a:ext>
            </a:extLst>
          </p:cNvPr>
          <p:cNvSpPr txBox="1"/>
          <p:nvPr/>
        </p:nvSpPr>
        <p:spPr>
          <a:xfrm>
            <a:off x="528857" y="6196177"/>
            <a:ext cx="6930370" cy="775212"/>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85000"/>
              </a:lnSpc>
              <a:spcBef>
                <a:spcPts val="600"/>
              </a:spcBef>
              <a:spcAft>
                <a:spcPts val="0"/>
              </a:spcAft>
              <a:buClrTx/>
              <a:buSzTx/>
              <a:buFontTx/>
              <a:buNone/>
              <a:tabLst/>
              <a:defRPr/>
            </a:pPr>
            <a:r>
              <a:rPr lang="en-US" sz="5000" b="1">
                <a:solidFill>
                  <a:srgbClr val="00A3E0"/>
                </a:solidFill>
                <a:latin typeface="Poppins" pitchFamily="2" charset="77"/>
                <a:cs typeface="Poppins" pitchFamily="2" charset="77"/>
              </a:rPr>
              <a:t>THANK YOU</a:t>
            </a:r>
          </a:p>
        </p:txBody>
      </p:sp>
      <p:sp>
        <p:nvSpPr>
          <p:cNvPr id="23" name="Rectangle 22">
            <a:extLst>
              <a:ext uri="{FF2B5EF4-FFF2-40B4-BE49-F238E27FC236}">
                <a16:creationId xmlns:a16="http://schemas.microsoft.com/office/drawing/2014/main" id="{AA9D977C-B6DC-0CBA-9310-2DA4A49F8286}"/>
              </a:ext>
            </a:extLst>
          </p:cNvPr>
          <p:cNvSpPr/>
          <p:nvPr/>
        </p:nvSpPr>
        <p:spPr>
          <a:xfrm>
            <a:off x="-2" y="1770733"/>
            <a:ext cx="7772402" cy="3483039"/>
          </a:xfrm>
          <a:prstGeom prst="rect">
            <a:avLst/>
          </a:prstGeom>
          <a:gradFill>
            <a:gsLst>
              <a:gs pos="75000">
                <a:schemeClr val="tx2"/>
              </a:gs>
              <a:gs pos="0">
                <a:schemeClr val="tx2">
                  <a:alpha val="0"/>
                </a:schemeClr>
              </a:gs>
            </a:gsLst>
            <a:lin ang="5400000" scaled="1"/>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endParaRPr>
          </a:p>
        </p:txBody>
      </p:sp>
      <p:pic>
        <p:nvPicPr>
          <p:cNvPr id="6" name="Picture 5">
            <a:extLst>
              <a:ext uri="{FF2B5EF4-FFF2-40B4-BE49-F238E27FC236}">
                <a16:creationId xmlns:a16="http://schemas.microsoft.com/office/drawing/2014/main" id="{08ABADD8-38D1-3AED-4132-BCC65BF8F792}"/>
              </a:ext>
            </a:extLst>
          </p:cNvPr>
          <p:cNvPicPr>
            <a:picLocks noChangeAspect="1"/>
          </p:cNvPicPr>
          <p:nvPr/>
        </p:nvPicPr>
        <p:blipFill>
          <a:blip r:embed="rId4">
            <a:lum bright="100000"/>
          </a:blip>
          <a:stretch>
            <a:fillRect/>
          </a:stretch>
        </p:blipFill>
        <p:spPr>
          <a:xfrm>
            <a:off x="652555" y="9350142"/>
            <a:ext cx="1244043" cy="218369"/>
          </a:xfrm>
          <a:prstGeom prst="rect">
            <a:avLst/>
          </a:prstGeom>
        </p:spPr>
      </p:pic>
    </p:spTree>
    <p:extLst>
      <p:ext uri="{BB962C8B-B14F-4D97-AF65-F5344CB8AC3E}">
        <p14:creationId xmlns:p14="http://schemas.microsoft.com/office/powerpoint/2010/main" val="2975926656"/>
      </p:ext>
    </p:extLst>
  </p:cSld>
  <p:clrMapOvr>
    <a:masterClrMapping/>
  </p:clrMapOvr>
</p:sld>
</file>

<file path=ppt/theme/theme1.xml><?xml version="1.0" encoding="utf-8"?>
<a:theme xmlns:a="http://schemas.openxmlformats.org/drawingml/2006/main" name="1_Office Theme">
  <a:themeElements>
    <a:clrScheme name="Horizon Media">
      <a:dk1>
        <a:srgbClr val="000000"/>
      </a:dk1>
      <a:lt1>
        <a:srgbClr val="FFFFFF"/>
      </a:lt1>
      <a:dk2>
        <a:srgbClr val="040E32"/>
      </a:dk2>
      <a:lt2>
        <a:srgbClr val="E7E6E6"/>
      </a:lt2>
      <a:accent1>
        <a:srgbClr val="0070B8"/>
      </a:accent1>
      <a:accent2>
        <a:srgbClr val="01B282"/>
      </a:accent2>
      <a:accent3>
        <a:srgbClr val="4D419A"/>
      </a:accent3>
      <a:accent4>
        <a:srgbClr val="002060"/>
      </a:accent4>
      <a:accent5>
        <a:srgbClr val="00A4E4"/>
      </a:accent5>
      <a:accent6>
        <a:srgbClr val="240B45"/>
      </a:accent6>
      <a:hlink>
        <a:srgbClr val="7F7F7F"/>
      </a:hlink>
      <a:folHlink>
        <a:srgbClr val="0070B8"/>
      </a:folHlink>
    </a:clrScheme>
    <a:fontScheme name="Avenir Next LT Pro">
      <a:majorFont>
        <a:latin typeface="Avenir Next LT Pro"/>
        <a:ea typeface=""/>
        <a:cs typeface=""/>
      </a:majorFont>
      <a:minorFont>
        <a:latin typeface="Avenir Next LT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sz="1400" dirty="0" smtClean="0">
            <a:latin typeface="Poppins SemiBold" panose="00000700000000000000" pitchFamily="2" charset="0"/>
            <a:cs typeface="Poppins SemiBold" panose="000007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2700" cap="rnd" cmpd="sng" algn="ctr">
          <a:solidFill>
            <a:sysClr val="window" lastClr="FFFFFF">
              <a:lumMod val="85000"/>
              <a:alpha val="80000"/>
            </a:sysClr>
          </a:solidFill>
          <a:prstDash val="solid"/>
          <a:round/>
        </a:ln>
        <a:effectLst/>
      </a:spPr>
      <a:bodyPr/>
      <a:lstStyle/>
    </a:lnDef>
    <a:txDef>
      <a:spPr>
        <a:noFill/>
      </a:spPr>
      <a:bodyPr wrap="none" rtlCol="0">
        <a:spAutoFit/>
      </a:bodyPr>
      <a:lstStyle>
        <a:defPPr algn="l">
          <a:lnSpc>
            <a:spcPct val="112000"/>
          </a:lnSpc>
          <a:spcBef>
            <a:spcPts val="1200"/>
          </a:spcBef>
          <a:defRPr sz="1100" dirty="0" err="1" smtClean="0">
            <a:latin typeface="Poppins" panose="00000500000000000000" pitchFamily="2" charset="0"/>
            <a:cs typeface="Poppins" panose="000005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1026AABC0CBEA4D9879C0B953C0C585" ma:contentTypeVersion="17" ma:contentTypeDescription="Create a new document." ma:contentTypeScope="" ma:versionID="e969b8b95db1d4c833d4c86ea18bc368">
  <xsd:schema xmlns:xsd="http://www.w3.org/2001/XMLSchema" xmlns:xs="http://www.w3.org/2001/XMLSchema" xmlns:p="http://schemas.microsoft.com/office/2006/metadata/properties" xmlns:ns2="84a4d7d2-6a59-4cf9-9824-51454902612a" xmlns:ns3="5726f12b-d6e1-49ca-b8d1-6773bf9e2849" targetNamespace="http://schemas.microsoft.com/office/2006/metadata/properties" ma:root="true" ma:fieldsID="577a6ad2894de8ed3ab075d0d10946c9" ns2:_="" ns3:_="">
    <xsd:import namespace="84a4d7d2-6a59-4cf9-9824-51454902612a"/>
    <xsd:import namespace="5726f12b-d6e1-49ca-b8d1-6773bf9e284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LengthInSecond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a4d7d2-6a59-4cf9-9824-51454902612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81f119d9-9750-42cd-a5ee-7af4dcc4525e"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726f12b-d6e1-49ca-b8d1-6773bf9e284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0128f61e-33f6-4df9-b927-bbe96af93bbd}" ma:internalName="TaxCatchAll" ma:showField="CatchAllData" ma:web="5726f12b-d6e1-49ca-b8d1-6773bf9e284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726f12b-d6e1-49ca-b8d1-6773bf9e2849" xsi:nil="true"/>
    <lcf76f155ced4ddcb4097134ff3c332f xmlns="84a4d7d2-6a59-4cf9-9824-51454902612a">
      <Terms xmlns="http://schemas.microsoft.com/office/infopath/2007/PartnerControls"/>
    </lcf76f155ced4ddcb4097134ff3c332f>
    <SharedWithUsers xmlns="5726f12b-d6e1-49ca-b8d1-6773bf9e2849">
      <UserInfo>
        <DisplayName>Isabella Hiew</DisplayName>
        <AccountId>137</AccountId>
        <AccountType/>
      </UserInfo>
      <UserInfo>
        <DisplayName>Celia Colista</DisplayName>
        <AccountId>141</AccountId>
        <AccountType/>
      </UserInfo>
    </SharedWithUsers>
  </documentManagement>
</p:properties>
</file>

<file path=customXml/itemProps1.xml><?xml version="1.0" encoding="utf-8"?>
<ds:datastoreItem xmlns:ds="http://schemas.openxmlformats.org/officeDocument/2006/customXml" ds:itemID="{D90A837C-6F17-4BF0-ACD4-36C5E1BF6E3C}">
  <ds:schemaRefs>
    <ds:schemaRef ds:uri="5726f12b-d6e1-49ca-b8d1-6773bf9e2849"/>
    <ds:schemaRef ds:uri="84a4d7d2-6a59-4cf9-9824-51454902612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B53D92A-98B2-4236-ABD8-E41E68D03E12}">
  <ds:schemaRefs>
    <ds:schemaRef ds:uri="http://schemas.microsoft.com/sharepoint/v3/contenttype/forms"/>
  </ds:schemaRefs>
</ds:datastoreItem>
</file>

<file path=customXml/itemProps3.xml><?xml version="1.0" encoding="utf-8"?>
<ds:datastoreItem xmlns:ds="http://schemas.openxmlformats.org/officeDocument/2006/customXml" ds:itemID="{A6A47D90-F3DA-4214-873A-1C30DD3D1E34}">
  <ds:schemaRefs>
    <ds:schemaRef ds:uri="http://www.w3.org/XML/1998/namespace"/>
    <ds:schemaRef ds:uri="84a4d7d2-6a59-4cf9-9824-51454902612a"/>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purl.org/dc/terms/"/>
    <ds:schemaRef ds:uri="http://purl.org/dc/dcmitype/"/>
    <ds:schemaRef ds:uri="5726f12b-d6e1-49ca-b8d1-6773bf9e2849"/>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0</TotalTime>
  <Words>538</Words>
  <Application>Microsoft Macintosh PowerPoint</Application>
  <PresentationFormat>Custom</PresentationFormat>
  <Paragraphs>43</Paragraphs>
  <Slides>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Avenir Next</vt:lpstr>
      <vt:lpstr>Calibri</vt:lpstr>
      <vt:lpstr>Poppins</vt:lpstr>
      <vt:lpstr>Poppins SemiBold</vt:lpstr>
      <vt:lpstr>1_Office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Katie Kelly</dc:creator>
  <cp:lastModifiedBy>Andrew Jones</cp:lastModifiedBy>
  <cp:revision>2</cp:revision>
  <cp:lastPrinted>2026-06-18T18:59:33Z</cp:lastPrinted>
  <dcterms:created xsi:type="dcterms:W3CDTF">2024-02-02T16:23:02Z</dcterms:created>
  <dcterms:modified xsi:type="dcterms:W3CDTF">2026-06-18T18:59:54Z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0x010100F1026AABC0CBEA4D9879C0B953C0C585</vt:lpwstr>
  </property>
  <property fmtid="{D5CDD505-2E9C-101B-9397-08002B2CF9AE}" pid="3" name="xd_ProgID">
    <vt:lpwstr/>
  </property>
  <property fmtid="{D5CDD505-2E9C-101B-9397-08002B2CF9AE}" pid="4" name="ComplianceAssetId">
    <vt:lpwstr/>
  </property>
  <property fmtid="{D5CDD505-2E9C-101B-9397-08002B2CF9AE}" pid="5" name="TemplateUrl">
    <vt:lpwstr/>
  </property>
  <property fmtid="{D5CDD505-2E9C-101B-9397-08002B2CF9AE}" pid="6" name="_ExtendedDescription">
    <vt:lpwstr/>
  </property>
  <property fmtid="{D5CDD505-2E9C-101B-9397-08002B2CF9AE}" pid="7" name="TriggerFlowInfo">
    <vt:lpwstr/>
  </property>
  <property fmtid="{D5CDD505-2E9C-101B-9397-08002B2CF9AE}" pid="8" name="xd_Signature">
    <vt:lpwstr/>
  </property>
  <property fmtid="{D5CDD505-2E9C-101B-9397-08002B2CF9AE}" pid="9" name="SharedWithUsers">
    <vt:lpwstr>137;#Isabella Hiew;#141;#Celia Colista</vt:lpwstr>
  </property>
  <property fmtid="{D5CDD505-2E9C-101B-9397-08002B2CF9AE}" pid="10" name="MediaServiceImageTags">
    <vt:lpwstr/>
  </property>
</Properties>
</file>